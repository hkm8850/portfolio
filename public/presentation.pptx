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8288000" cy="10287000"/>
  <p:notesSz cx="6858000" cy="9144000"/>
  <p:embeddedFontLst>
    <p:embeddedFont>
      <p:font typeface="League Spartan" charset="1" panose="00000800000000000000"/>
      <p:regular r:id="rId14"/>
    </p:embeddedFont>
    <p:embeddedFont>
      <p:font typeface="Open Sans" charset="1" panose="00000000000000000000"/>
      <p:regular r:id="rId15"/>
    </p:embeddedFont>
    <p:embeddedFont>
      <p:font typeface="Open Sans Bold" charset="1" panose="00000000000000000000"/>
      <p:regular r:id="rId16"/>
    </p:embeddedFont>
    <p:embeddedFont>
      <p:font typeface="HK Grotesk" charset="1" panose="00000500000000000000"/>
      <p:regular r:id="rId17"/>
    </p:embeddedFont>
    <p:embeddedFont>
      <p:font typeface="HK Grotesk Bold" charset="1" panose="00000800000000000000"/>
      <p:regular r:id="rId18"/>
    </p:embeddedFont>
    <p:embeddedFont>
      <p:font typeface="Montserrat" charset="1" panose="000005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1.png" Type="http://schemas.openxmlformats.org/officeDocument/2006/relationships/image"/><Relationship Id="rId7" Target="../media/image2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Relationship Id="rId6" Target="../media/image11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14.png" Type="http://schemas.openxmlformats.org/officeDocument/2006/relationships/image"/><Relationship Id="rId7" Target="../media/image15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0.png" Type="http://schemas.openxmlformats.org/officeDocument/2006/relationships/image"/><Relationship Id="rId11" Target="../media/image21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Relationship Id="rId8" Target="../media/image18.png" Type="http://schemas.openxmlformats.org/officeDocument/2006/relationships/image"/><Relationship Id="rId9" Target="../media/image19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sv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https://tietalent.com/fr/blog/188/carrieres-ia-et-data-science-guide-rapide-pour-talents-en-europe" TargetMode="External" Type="http://schemas.openxmlformats.org/officeDocument/2006/relationships/hyperlink"/><Relationship Id="rId11" Target="https://techstaq.io/emerging-tech-salaries-in-europe-2026-trends-and-the-future-of-tech-jobs-through-2030/" TargetMode="External" Type="http://schemas.openxmlformats.org/officeDocument/2006/relationships/hyperlink"/><Relationship Id="rId12" Target="https://imarticus.org/blog/why-93-of-global-companies-will-rely-on-data-analytics-by-2030-skills-you-need/" TargetMode="External" Type="http://schemas.openxmlformats.org/officeDocument/2006/relationships/hyperlink"/><Relationship Id="rId13" Target="https://www.info.gouv.fr/grand-dossier/france-2030" TargetMode="External" Type="http://schemas.openxmlformats.org/officeDocument/2006/relationships/hyperlink"/><Relationship Id="rId14" Target="https://www.klecha-co.com/blog/the-ai-skills-gap-talent-shortages-and-workforce-adaptation" TargetMode="External" Type="http://schemas.openxmlformats.org/officeDocument/2006/relationships/hyperlink"/><Relationship Id="rId15" Target="https://www.secondtalent.com/resources/global-ai-talent-shortage-statistics/" TargetMode="External" Type="http://schemas.openxmlformats.org/officeDocument/2006/relationships/hyperlink"/><Relationship Id="rId16" Target="https://qubit-labs.com/ai-talent-shortage/" TargetMode="External" Type="http://schemas.openxmlformats.org/officeDocument/2006/relationships/hyperlink"/><Relationship Id="rId17" Target="https://www.data-bird.co/blog/data-recrutement-quel-marche-en-2024" TargetMode="External" Type="http://schemas.openxmlformats.org/officeDocument/2006/relationships/hyperlink"/><Relationship Id="rId18" Target="https://reports.weforum.org/docs/WEF_Future_of_Jobs_Report_2025.pdf" TargetMode="External" Type="http://schemas.openxmlformats.org/officeDocument/2006/relationships/hyperlink"/><Relationship Id="rId2" Target="../media/image3.png" Type="http://schemas.openxmlformats.org/officeDocument/2006/relationships/image"/><Relationship Id="rId3" Target="../media/image4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https://www.jedha.co/formation-analyse-donnee/chiffres-sur-le-marche-de-la-data-en-2025" TargetMode="External" Type="http://schemas.openxmlformats.org/officeDocument/2006/relationships/hyperlink"/><Relationship Id="rId7" Target="https://digital-strategy.ec.europa.eu/en/policies/regulatory-framework-ai" TargetMode="External" Type="http://schemas.openxmlformats.org/officeDocument/2006/relationships/hyperlink"/><Relationship Id="rId8" Target="https://www.eurasiareview.com/08012025-future-of-jobs-report-2025-78-million-new-job-opportunities-by-2030-but-urgent-upskilling-needed-to-prepare-workforces/" TargetMode="External" Type="http://schemas.openxmlformats.org/officeDocument/2006/relationships/hyperlink"/><Relationship Id="rId9" Target="https://thunderbit.com/fr/blog/ai-job-statistics-explained" TargetMode="External" Type="http://schemas.openxmlformats.org/officeDocument/2006/relationships/hyperlink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230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V="true">
            <a:off x="1028700" y="1273490"/>
            <a:ext cx="1623060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flipV="true">
            <a:off x="1028700" y="9239250"/>
            <a:ext cx="1623060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14337215" y="1654490"/>
            <a:ext cx="4729929" cy="3843707"/>
          </a:xfrm>
          <a:custGeom>
            <a:avLst/>
            <a:gdLst/>
            <a:ahLst/>
            <a:cxnLst/>
            <a:rect r="r" b="b" t="t" l="l"/>
            <a:pathLst>
              <a:path h="3843707" w="4729929">
                <a:moveTo>
                  <a:pt x="0" y="0"/>
                </a:moveTo>
                <a:lnTo>
                  <a:pt x="4729929" y="0"/>
                </a:lnTo>
                <a:lnTo>
                  <a:pt x="4729929" y="3843707"/>
                </a:lnTo>
                <a:lnTo>
                  <a:pt x="0" y="38437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-533878" y="7501170"/>
            <a:ext cx="5107990" cy="873002"/>
          </a:xfrm>
          <a:custGeom>
            <a:avLst/>
            <a:gdLst/>
            <a:ahLst/>
            <a:cxnLst/>
            <a:rect r="r" b="b" t="t" l="l"/>
            <a:pathLst>
              <a:path h="873002" w="5107990">
                <a:moveTo>
                  <a:pt x="0" y="0"/>
                </a:moveTo>
                <a:lnTo>
                  <a:pt x="5107990" y="0"/>
                </a:lnTo>
                <a:lnTo>
                  <a:pt x="5107990" y="873002"/>
                </a:lnTo>
                <a:lnTo>
                  <a:pt x="0" y="8730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294071" y="4175398"/>
            <a:ext cx="13466790" cy="338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402"/>
              </a:lnSpc>
            </a:pPr>
            <a:r>
              <a:rPr lang="en-US" sz="10985" spc="-549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Projet Personnel Professionnel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862118" y="7331954"/>
            <a:ext cx="9475097" cy="388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60"/>
              </a:lnSpc>
            </a:pPr>
            <a:r>
              <a:rPr lang="en-US" sz="2100" spc="14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Data Engineer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711200"/>
            <a:ext cx="2558277" cy="299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470"/>
              </a:lnSpc>
              <a:spcBef>
                <a:spcPct val="0"/>
              </a:spcBef>
            </a:pPr>
            <a:r>
              <a:rPr lang="en-US" sz="1900" spc="95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ENSEEIHT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3358767" y="719455"/>
            <a:ext cx="3900533" cy="299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470"/>
              </a:lnSpc>
              <a:spcBef>
                <a:spcPct val="0"/>
              </a:spcBef>
            </a:pPr>
            <a:r>
              <a:rPr lang="en-US" sz="1900" spc="95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05/01/2026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5276002" y="9241634"/>
            <a:ext cx="4042796" cy="3886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60"/>
              </a:lnSpc>
            </a:pPr>
            <a:r>
              <a:rPr lang="en-US" sz="2100" spc="144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HAMZA KALIM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230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-5400000">
            <a:off x="-1446538" y="5192482"/>
            <a:ext cx="5809898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49"/>
              </a:lnSpc>
            </a:pPr>
            <a:r>
              <a:rPr lang="en-US" sz="7499" spc="-374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PARCOURS</a:t>
            </a:r>
          </a:p>
        </p:txBody>
      </p:sp>
      <p:sp>
        <p:nvSpPr>
          <p:cNvPr name="Freeform 3" id="3"/>
          <p:cNvSpPr/>
          <p:nvPr/>
        </p:nvSpPr>
        <p:spPr>
          <a:xfrm flipH="false" flipV="false" rot="-5400000">
            <a:off x="-1305374" y="237368"/>
            <a:ext cx="5107990" cy="873002"/>
          </a:xfrm>
          <a:custGeom>
            <a:avLst/>
            <a:gdLst/>
            <a:ahLst/>
            <a:cxnLst/>
            <a:rect r="r" b="b" t="t" l="l"/>
            <a:pathLst>
              <a:path h="873002" w="5107990">
                <a:moveTo>
                  <a:pt x="0" y="0"/>
                </a:moveTo>
                <a:lnTo>
                  <a:pt x="5107990" y="0"/>
                </a:lnTo>
                <a:lnTo>
                  <a:pt x="5107990" y="873002"/>
                </a:lnTo>
                <a:lnTo>
                  <a:pt x="0" y="8730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4223566" y="273154"/>
            <a:ext cx="9587201" cy="9740693"/>
            <a:chOff x="0" y="0"/>
            <a:chExt cx="12782934" cy="1298759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77681"/>
              <a:ext cx="4099181" cy="12909909"/>
            </a:xfrm>
            <a:custGeom>
              <a:avLst/>
              <a:gdLst/>
              <a:ahLst/>
              <a:cxnLst/>
              <a:rect r="r" b="b" t="t" l="l"/>
              <a:pathLst>
                <a:path h="12909909" w="4099181">
                  <a:moveTo>
                    <a:pt x="0" y="0"/>
                  </a:moveTo>
                  <a:lnTo>
                    <a:pt x="4099181" y="0"/>
                  </a:lnTo>
                  <a:lnTo>
                    <a:pt x="4099181" y="12909909"/>
                  </a:lnTo>
                  <a:lnTo>
                    <a:pt x="0" y="129099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744" r="-217282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2889673" y="0"/>
              <a:ext cx="6737128" cy="12987590"/>
            </a:xfrm>
            <a:custGeom>
              <a:avLst/>
              <a:gdLst/>
              <a:ahLst/>
              <a:cxnLst/>
              <a:rect r="r" b="b" t="t" l="l"/>
              <a:pathLst>
                <a:path h="12987590" w="6737128">
                  <a:moveTo>
                    <a:pt x="0" y="0"/>
                  </a:moveTo>
                  <a:lnTo>
                    <a:pt x="6737128" y="0"/>
                  </a:lnTo>
                  <a:lnTo>
                    <a:pt x="6737128" y="12987590"/>
                  </a:lnTo>
                  <a:lnTo>
                    <a:pt x="0" y="129875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17503" t="-141" r="-75545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4603024" y="12374732"/>
              <a:ext cx="237891" cy="63443"/>
            </a:xfrm>
            <a:custGeom>
              <a:avLst/>
              <a:gdLst/>
              <a:ahLst/>
              <a:cxnLst/>
              <a:rect r="r" b="b" t="t" l="l"/>
              <a:pathLst>
                <a:path h="63443" w="237891">
                  <a:moveTo>
                    <a:pt x="0" y="0"/>
                  </a:moveTo>
                  <a:lnTo>
                    <a:pt x="237891" y="0"/>
                  </a:lnTo>
                  <a:lnTo>
                    <a:pt x="237891" y="63443"/>
                  </a:lnTo>
                  <a:lnTo>
                    <a:pt x="0" y="634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1423121" t="-20381848" r="-3939144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956520" y="307928"/>
              <a:ext cx="3826415" cy="12667019"/>
            </a:xfrm>
            <a:custGeom>
              <a:avLst/>
              <a:gdLst/>
              <a:ahLst/>
              <a:cxnLst/>
              <a:rect r="r" b="b" t="t" l="l"/>
              <a:pathLst>
                <a:path h="12667019" w="3826415">
                  <a:moveTo>
                    <a:pt x="0" y="0"/>
                  </a:moveTo>
                  <a:lnTo>
                    <a:pt x="3826414" y="0"/>
                  </a:lnTo>
                  <a:lnTo>
                    <a:pt x="3826414" y="12667019"/>
                  </a:lnTo>
                  <a:lnTo>
                    <a:pt x="0" y="12667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30790" t="-2583" r="-208802" b="0"/>
              </a:stretch>
            </a:blipFill>
          </p:spPr>
        </p:sp>
      </p:grpSp>
      <p:sp>
        <p:nvSpPr>
          <p:cNvPr name="AutoShape 9" id="9"/>
          <p:cNvSpPr/>
          <p:nvPr/>
        </p:nvSpPr>
        <p:spPr>
          <a:xfrm>
            <a:off x="9144000" y="9239250"/>
            <a:ext cx="8115300" cy="0"/>
          </a:xfrm>
          <a:prstGeom prst="line">
            <a:avLst/>
          </a:prstGeom>
          <a:ln cap="flat" w="38100">
            <a:solidFill>
              <a:srgbClr val="02304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0" id="10"/>
          <p:cNvSpPr/>
          <p:nvPr/>
        </p:nvSpPr>
        <p:spPr>
          <a:xfrm flipH="false" flipV="false" rot="0">
            <a:off x="14003846" y="937180"/>
            <a:ext cx="4729929" cy="3843707"/>
          </a:xfrm>
          <a:custGeom>
            <a:avLst/>
            <a:gdLst/>
            <a:ahLst/>
            <a:cxnLst/>
            <a:rect r="r" b="b" t="t" l="l"/>
            <a:pathLst>
              <a:path h="3843707" w="4729929">
                <a:moveTo>
                  <a:pt x="0" y="0"/>
                </a:moveTo>
                <a:lnTo>
                  <a:pt x="4729929" y="0"/>
                </a:lnTo>
                <a:lnTo>
                  <a:pt x="4729929" y="3843707"/>
                </a:lnTo>
                <a:lnTo>
                  <a:pt x="0" y="38437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1" id="11"/>
          <p:cNvSpPr/>
          <p:nvPr/>
        </p:nvSpPr>
        <p:spPr>
          <a:xfrm flipV="true">
            <a:off x="1028700" y="9239250"/>
            <a:ext cx="1623060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13358767" y="9394534"/>
            <a:ext cx="3900533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79"/>
              </a:lnSpc>
            </a:pPr>
            <a:r>
              <a:rPr lang="en-US" sz="1599" spc="79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hello@reallygreatsite.com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358767" y="9394534"/>
            <a:ext cx="3900533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79"/>
              </a:lnSpc>
            </a:pPr>
            <a:r>
              <a:rPr lang="en-US" sz="1599" spc="7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HAMZA KALIM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918937" y="5571124"/>
            <a:ext cx="1271489" cy="63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33"/>
              </a:lnSpc>
              <a:spcBef>
                <a:spcPct val="0"/>
              </a:spcBef>
            </a:pPr>
            <a:r>
              <a:rPr lang="en-US" b="true" sz="4025" spc="20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2022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650809" y="5571124"/>
            <a:ext cx="2732715" cy="63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33"/>
              </a:lnSpc>
              <a:spcBef>
                <a:spcPct val="0"/>
              </a:spcBef>
            </a:pPr>
            <a:r>
              <a:rPr lang="en-US" b="true" sz="4025" spc="20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2022-2024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052778" y="6176624"/>
            <a:ext cx="3003806" cy="1142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3"/>
              </a:lnSpc>
              <a:spcBef>
                <a:spcPct val="0"/>
              </a:spcBef>
            </a:pPr>
            <a:r>
              <a:rPr lang="en-US" sz="2325" spc="11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Baccalauréat Sciences Maths A (équivalent Bac S)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7310889" y="6176624"/>
            <a:ext cx="3412556" cy="1142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3"/>
              </a:lnSpc>
            </a:pPr>
            <a:r>
              <a:rPr lang="en-US" sz="2325" spc="11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Classes Préparatoires MPSI</a:t>
            </a:r>
          </a:p>
          <a:p>
            <a:pPr algn="ctr">
              <a:lnSpc>
                <a:spcPts val="3023"/>
              </a:lnSpc>
              <a:spcBef>
                <a:spcPct val="0"/>
              </a:spcBef>
            </a:pPr>
            <a:r>
              <a:rPr lang="en-US" sz="2325" spc="11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( Moulay Youssef 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625970" y="5571124"/>
            <a:ext cx="3609251" cy="63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33"/>
              </a:lnSpc>
              <a:spcBef>
                <a:spcPct val="0"/>
              </a:spcBef>
            </a:pPr>
            <a:r>
              <a:rPr lang="en-US" b="true" sz="4025" spc="20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2024-Présent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742620" y="6176624"/>
            <a:ext cx="3502658" cy="11420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3"/>
              </a:lnSpc>
              <a:spcBef>
                <a:spcPct val="0"/>
              </a:spcBef>
            </a:pPr>
            <a:r>
              <a:rPr lang="en-US" sz="2325" spc="116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Deuxième année à l’ENSEEIHT parcours HPC et Big Data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false" rot="0">
            <a:off x="-904080" y="-270389"/>
            <a:ext cx="4729929" cy="3843707"/>
          </a:xfrm>
          <a:custGeom>
            <a:avLst/>
            <a:gdLst/>
            <a:ahLst/>
            <a:cxnLst/>
            <a:rect r="r" b="b" t="t" l="l"/>
            <a:pathLst>
              <a:path h="3843707" w="4729929">
                <a:moveTo>
                  <a:pt x="4729929" y="0"/>
                </a:moveTo>
                <a:lnTo>
                  <a:pt x="0" y="0"/>
                </a:lnTo>
                <a:lnTo>
                  <a:pt x="0" y="3843706"/>
                </a:lnTo>
                <a:lnTo>
                  <a:pt x="4729929" y="3843706"/>
                </a:lnTo>
                <a:lnTo>
                  <a:pt x="4729929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3" id="3"/>
          <p:cNvSpPr/>
          <p:nvPr/>
        </p:nvSpPr>
        <p:spPr>
          <a:xfrm>
            <a:off x="9144000" y="9239250"/>
            <a:ext cx="8115300" cy="0"/>
          </a:xfrm>
          <a:prstGeom prst="line">
            <a:avLst/>
          </a:prstGeom>
          <a:ln cap="flat" w="38100">
            <a:solidFill>
              <a:srgbClr val="02304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3734339" y="2611711"/>
            <a:ext cx="5745399" cy="3018946"/>
          </a:xfrm>
          <a:custGeom>
            <a:avLst/>
            <a:gdLst/>
            <a:ahLst/>
            <a:cxnLst/>
            <a:rect r="r" b="b" t="t" l="l"/>
            <a:pathLst>
              <a:path h="3018946" w="5745399">
                <a:moveTo>
                  <a:pt x="0" y="0"/>
                </a:moveTo>
                <a:lnTo>
                  <a:pt x="5745400" y="0"/>
                </a:lnTo>
                <a:lnTo>
                  <a:pt x="5745400" y="3018946"/>
                </a:lnTo>
                <a:lnTo>
                  <a:pt x="0" y="3018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843209" y="2639158"/>
            <a:ext cx="5745399" cy="3018946"/>
          </a:xfrm>
          <a:custGeom>
            <a:avLst/>
            <a:gdLst/>
            <a:ahLst/>
            <a:cxnLst/>
            <a:rect r="r" b="b" t="t" l="l"/>
            <a:pathLst>
              <a:path h="3018946" w="5745399">
                <a:moveTo>
                  <a:pt x="0" y="0"/>
                </a:moveTo>
                <a:lnTo>
                  <a:pt x="5745399" y="0"/>
                </a:lnTo>
                <a:lnTo>
                  <a:pt x="5745399" y="3018947"/>
                </a:lnTo>
                <a:lnTo>
                  <a:pt x="0" y="301894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398601" y="592900"/>
            <a:ext cx="14614608" cy="8620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32"/>
              </a:lnSpc>
            </a:pPr>
            <a:r>
              <a:rPr lang="en-US" sz="5600" spc="-280">
                <a:solidFill>
                  <a:srgbClr val="023047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ANALYSE SWOT DU SECTEUR DE LA DATA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358767" y="9394534"/>
            <a:ext cx="3900533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79"/>
              </a:lnSpc>
            </a:pPr>
            <a:r>
              <a:rPr lang="en-US" sz="1599" spc="79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HAMZA KALIM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687143" y="1285255"/>
            <a:ext cx="11051489" cy="5419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58"/>
              </a:lnSpc>
            </a:pPr>
            <a:r>
              <a:rPr lang="en-US" sz="3572" spc="-178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( Horizon 2027 )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3734339" y="5915955"/>
            <a:ext cx="5745399" cy="3018946"/>
          </a:xfrm>
          <a:custGeom>
            <a:avLst/>
            <a:gdLst/>
            <a:ahLst/>
            <a:cxnLst/>
            <a:rect r="r" b="b" t="t" l="l"/>
            <a:pathLst>
              <a:path h="3018946" w="5745399">
                <a:moveTo>
                  <a:pt x="0" y="0"/>
                </a:moveTo>
                <a:lnTo>
                  <a:pt x="5745400" y="0"/>
                </a:lnTo>
                <a:lnTo>
                  <a:pt x="5745400" y="3018947"/>
                </a:lnTo>
                <a:lnTo>
                  <a:pt x="0" y="3018947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0843209" y="5929679"/>
            <a:ext cx="5745399" cy="3018946"/>
          </a:xfrm>
          <a:custGeom>
            <a:avLst/>
            <a:gdLst/>
            <a:ahLst/>
            <a:cxnLst/>
            <a:rect r="r" b="b" t="t" l="l"/>
            <a:pathLst>
              <a:path h="3018946" w="5745399">
                <a:moveTo>
                  <a:pt x="0" y="0"/>
                </a:moveTo>
                <a:lnTo>
                  <a:pt x="5745399" y="0"/>
                </a:lnTo>
                <a:lnTo>
                  <a:pt x="5745399" y="3018946"/>
                </a:lnTo>
                <a:lnTo>
                  <a:pt x="0" y="3018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5879933" y="2834813"/>
            <a:ext cx="1454211" cy="4373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28"/>
              </a:lnSpc>
            </a:pPr>
            <a:r>
              <a:rPr lang="en-US" sz="2810" spc="-140">
                <a:solidFill>
                  <a:srgbClr val="023047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FORCES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099263" y="3190047"/>
            <a:ext cx="4780053" cy="19534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7679" indent="-173839" lvl="1">
              <a:lnSpc>
                <a:spcPts val="4025"/>
              </a:lnSpc>
              <a:buFont typeface="Arial"/>
              <a:buChar char="•"/>
            </a:pPr>
            <a:r>
              <a:rPr lang="en-US" sz="1610" spc="-80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+41% Croissance emploi data (2025-2030)</a:t>
            </a:r>
          </a:p>
          <a:p>
            <a:pPr algn="l" marL="347679" indent="-173839" lvl="1">
              <a:lnSpc>
                <a:spcPts val="4025"/>
              </a:lnSpc>
              <a:buFont typeface="Arial"/>
              <a:buChar char="•"/>
            </a:pPr>
            <a:r>
              <a:rPr lang="en-US" sz="1610" spc="-80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78 millions d’emplois créés globalement</a:t>
            </a:r>
          </a:p>
          <a:p>
            <a:pPr algn="l" marL="347679" indent="-173839" lvl="1">
              <a:lnSpc>
                <a:spcPts val="4025"/>
              </a:lnSpc>
              <a:buFont typeface="Arial"/>
              <a:buChar char="•"/>
            </a:pPr>
            <a:r>
              <a:rPr lang="en-US" sz="1610" spc="-80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≈3,0 Mds€ marché Data en France en 2026</a:t>
            </a:r>
          </a:p>
          <a:p>
            <a:pPr algn="l" marL="347679" indent="-173839" lvl="1">
              <a:lnSpc>
                <a:spcPts val="4025"/>
              </a:lnSpc>
              <a:buFont typeface="Arial"/>
              <a:buChar char="•"/>
            </a:pPr>
            <a:r>
              <a:rPr lang="en-US" sz="1610" spc="-80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Secteur résilient aux crises économiques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614668" y="2841175"/>
            <a:ext cx="2202481" cy="43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28"/>
              </a:lnSpc>
            </a:pPr>
            <a:r>
              <a:rPr lang="en-US" sz="2810" spc="-14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FAIBLESSES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325882" y="3256722"/>
            <a:ext cx="4780053" cy="2048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7679" indent="-173839" lvl="1">
              <a:lnSpc>
                <a:spcPts val="3349"/>
              </a:lnSpc>
              <a:buFont typeface="Arial"/>
              <a:buChar char="•"/>
            </a:pPr>
            <a:r>
              <a:rPr lang="en-US" sz="1610" spc="-8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700k d’emplois Data en déficit (2027)</a:t>
            </a:r>
          </a:p>
          <a:p>
            <a:pPr algn="l" marL="347679" indent="-173839" lvl="1">
              <a:lnSpc>
                <a:spcPts val="3349"/>
              </a:lnSpc>
              <a:buFont typeface="Arial"/>
              <a:buChar char="•"/>
            </a:pPr>
            <a:r>
              <a:rPr lang="en-US" sz="1610" spc="-8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3.2 postes pour 1 candidat</a:t>
            </a:r>
          </a:p>
          <a:p>
            <a:pPr algn="l" marL="347679" indent="-173839" lvl="1">
              <a:lnSpc>
                <a:spcPts val="3349"/>
              </a:lnSpc>
              <a:buFont typeface="Arial"/>
              <a:buChar char="•"/>
            </a:pPr>
            <a:r>
              <a:rPr lang="en-US" sz="1610" spc="-8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4.2M postes vs 2.1M profils (2030)</a:t>
            </a:r>
          </a:p>
          <a:p>
            <a:pPr algn="l" marL="347679" indent="-173839" lvl="1">
              <a:lnSpc>
                <a:spcPts val="3349"/>
              </a:lnSpc>
              <a:buFont typeface="Arial"/>
              <a:buChar char="•"/>
            </a:pPr>
            <a:r>
              <a:rPr lang="en-US" sz="1610" spc="-8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68 % des dirigeants déclarent un important manque de compétences IA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102135" y="6115737"/>
            <a:ext cx="2774309" cy="43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28"/>
              </a:lnSpc>
            </a:pPr>
            <a:r>
              <a:rPr lang="en-US" sz="2810" spc="-14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OPPORTUNITÉS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217013" y="6449807"/>
            <a:ext cx="4780053" cy="19534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7679" indent="-173839" lvl="1">
              <a:lnSpc>
                <a:spcPts val="4025"/>
              </a:lnSpc>
              <a:buFont typeface="Arial"/>
              <a:buChar char="•"/>
            </a:pPr>
            <a:r>
              <a:rPr lang="en-US" sz="1610" spc="-8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France 2030 : stratégie IA/data</a:t>
            </a:r>
          </a:p>
          <a:p>
            <a:pPr algn="l" marL="347679" indent="-173839" lvl="1">
              <a:lnSpc>
                <a:spcPts val="4025"/>
              </a:lnSpc>
              <a:buFont typeface="Arial"/>
              <a:buChar char="•"/>
            </a:pPr>
            <a:r>
              <a:rPr lang="en-US" sz="1610" spc="-8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93% entreprises utiliseront les analytics</a:t>
            </a:r>
          </a:p>
          <a:p>
            <a:pPr algn="l" marL="347679" indent="-173839" lvl="1">
              <a:lnSpc>
                <a:spcPts val="4025"/>
              </a:lnSpc>
              <a:buFont typeface="Arial"/>
              <a:buChar char="•"/>
            </a:pPr>
            <a:r>
              <a:rPr lang="en-US" sz="1610" spc="-8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70k€ salaire moyen Data Scientist en Europe</a:t>
            </a:r>
          </a:p>
          <a:p>
            <a:pPr algn="l" marL="347679" indent="-173839" lvl="1">
              <a:lnSpc>
                <a:spcPts val="4025"/>
              </a:lnSpc>
              <a:buFont typeface="Arial"/>
              <a:buChar char="•"/>
            </a:pPr>
            <a:r>
              <a:rPr lang="en-US" sz="1610" spc="-8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53.8 Mds$ marché de la data en Europe (2030)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328754" y="6115737"/>
            <a:ext cx="2774309" cy="43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28"/>
              </a:lnSpc>
            </a:pPr>
            <a:r>
              <a:rPr lang="en-US" sz="2810" spc="-140">
                <a:solidFill>
                  <a:srgbClr val="023047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MENACES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325882" y="6489599"/>
            <a:ext cx="4780053" cy="19534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7679" indent="-173839" lvl="1">
              <a:lnSpc>
                <a:spcPts val="4025"/>
              </a:lnSpc>
              <a:buFont typeface="Arial"/>
              <a:buChar char="•"/>
            </a:pPr>
            <a:r>
              <a:rPr lang="en-US" sz="1610" spc="-80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Automatisation IA accélérée</a:t>
            </a:r>
          </a:p>
          <a:p>
            <a:pPr algn="l" marL="347679" indent="-173839" lvl="1">
              <a:lnSpc>
                <a:spcPts val="4025"/>
              </a:lnSpc>
              <a:buFont typeface="Arial"/>
              <a:buChar char="•"/>
            </a:pPr>
            <a:r>
              <a:rPr lang="en-US" sz="1610" spc="-80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Domination GAFAM (Microsoft, Google, OpenAI)</a:t>
            </a:r>
          </a:p>
          <a:p>
            <a:pPr algn="l" marL="347679" indent="-173839" lvl="1">
              <a:lnSpc>
                <a:spcPts val="4025"/>
              </a:lnSpc>
              <a:buFont typeface="Arial"/>
              <a:buChar char="•"/>
            </a:pPr>
            <a:r>
              <a:rPr lang="en-US" sz="1610" spc="-80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RGPD + AI Act : réglementation complexe</a:t>
            </a:r>
          </a:p>
          <a:p>
            <a:pPr algn="l" marL="347679" indent="-173839" lvl="1">
              <a:lnSpc>
                <a:spcPts val="4025"/>
              </a:lnSpc>
              <a:buFont typeface="Arial"/>
              <a:buChar char="•"/>
            </a:pPr>
            <a:r>
              <a:rPr lang="en-US" sz="1610" spc="-80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Skills gap +30%/an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811053" y="900557"/>
            <a:ext cx="8355393" cy="8489163"/>
            <a:chOff x="0" y="0"/>
            <a:chExt cx="11140524" cy="1131888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67700"/>
              <a:ext cx="3572499" cy="11251184"/>
            </a:xfrm>
            <a:custGeom>
              <a:avLst/>
              <a:gdLst/>
              <a:ahLst/>
              <a:cxnLst/>
              <a:rect r="r" b="b" t="t" l="l"/>
              <a:pathLst>
                <a:path h="11251184" w="3572499">
                  <a:moveTo>
                    <a:pt x="0" y="0"/>
                  </a:moveTo>
                  <a:lnTo>
                    <a:pt x="3572499" y="0"/>
                  </a:lnTo>
                  <a:lnTo>
                    <a:pt x="3572499" y="11251184"/>
                  </a:lnTo>
                  <a:lnTo>
                    <a:pt x="0" y="112511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-744" r="-217282" b="0"/>
              </a:stretch>
            </a:blip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2518394" y="0"/>
              <a:ext cx="5871510" cy="11318884"/>
            </a:xfrm>
            <a:custGeom>
              <a:avLst/>
              <a:gdLst/>
              <a:ahLst/>
              <a:cxnLst/>
              <a:rect r="r" b="b" t="t" l="l"/>
              <a:pathLst>
                <a:path h="11318884" w="5871510">
                  <a:moveTo>
                    <a:pt x="0" y="0"/>
                  </a:moveTo>
                  <a:lnTo>
                    <a:pt x="5871511" y="0"/>
                  </a:lnTo>
                  <a:lnTo>
                    <a:pt x="5871511" y="11318884"/>
                  </a:lnTo>
                  <a:lnTo>
                    <a:pt x="0" y="113188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17503" t="-141" r="-75545" b="0"/>
              </a:stretch>
            </a:blip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4011606" y="10784769"/>
              <a:ext cx="207326" cy="55291"/>
            </a:xfrm>
            <a:custGeom>
              <a:avLst/>
              <a:gdLst/>
              <a:ahLst/>
              <a:cxnLst/>
              <a:rect r="r" b="b" t="t" l="l"/>
              <a:pathLst>
                <a:path h="55291" w="207326">
                  <a:moveTo>
                    <a:pt x="0" y="0"/>
                  </a:moveTo>
                  <a:lnTo>
                    <a:pt x="207326" y="0"/>
                  </a:lnTo>
                  <a:lnTo>
                    <a:pt x="207326" y="55291"/>
                  </a:lnTo>
                  <a:lnTo>
                    <a:pt x="0" y="552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1423121" t="-20381848" r="-3939144" b="0"/>
              </a:stretch>
            </a:blip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7805745" y="268364"/>
              <a:ext cx="3334779" cy="11039501"/>
            </a:xfrm>
            <a:custGeom>
              <a:avLst/>
              <a:gdLst/>
              <a:ahLst/>
              <a:cxnLst/>
              <a:rect r="r" b="b" t="t" l="l"/>
              <a:pathLst>
                <a:path h="11039501" w="3334779">
                  <a:moveTo>
                    <a:pt x="0" y="0"/>
                  </a:moveTo>
                  <a:lnTo>
                    <a:pt x="3334779" y="0"/>
                  </a:lnTo>
                  <a:lnTo>
                    <a:pt x="3334779" y="11039502"/>
                  </a:lnTo>
                  <a:lnTo>
                    <a:pt x="0" y="11039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30790" t="-2583" r="-208802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6841381" y="756334"/>
            <a:ext cx="7380186" cy="8620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32"/>
              </a:lnSpc>
            </a:pPr>
            <a:r>
              <a:rPr lang="en-US" sz="5600" spc="-280">
                <a:solidFill>
                  <a:srgbClr val="023047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MON PROJET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2985488" y="1028700"/>
            <a:ext cx="5107990" cy="873002"/>
          </a:xfrm>
          <a:custGeom>
            <a:avLst/>
            <a:gdLst/>
            <a:ahLst/>
            <a:cxnLst/>
            <a:rect r="r" b="b" t="t" l="l"/>
            <a:pathLst>
              <a:path h="873002" w="5107990">
                <a:moveTo>
                  <a:pt x="0" y="0"/>
                </a:moveTo>
                <a:lnTo>
                  <a:pt x="5107990" y="0"/>
                </a:lnTo>
                <a:lnTo>
                  <a:pt x="5107990" y="873002"/>
                </a:lnTo>
                <a:lnTo>
                  <a:pt x="0" y="87300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944040" y="592199"/>
            <a:ext cx="5107990" cy="873002"/>
          </a:xfrm>
          <a:custGeom>
            <a:avLst/>
            <a:gdLst/>
            <a:ahLst/>
            <a:cxnLst/>
            <a:rect r="r" b="b" t="t" l="l"/>
            <a:pathLst>
              <a:path h="873002" w="5107990">
                <a:moveTo>
                  <a:pt x="0" y="0"/>
                </a:moveTo>
                <a:lnTo>
                  <a:pt x="5107990" y="0"/>
                </a:lnTo>
                <a:lnTo>
                  <a:pt x="5107990" y="873002"/>
                </a:lnTo>
                <a:lnTo>
                  <a:pt x="0" y="87300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10" id="10"/>
          <p:cNvSpPr/>
          <p:nvPr/>
        </p:nvSpPr>
        <p:spPr>
          <a:xfrm>
            <a:off x="9144000" y="9239250"/>
            <a:ext cx="8115300" cy="0"/>
          </a:xfrm>
          <a:prstGeom prst="line">
            <a:avLst/>
          </a:prstGeom>
          <a:ln cap="flat" w="38100">
            <a:solidFill>
              <a:srgbClr val="02304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1" id="11"/>
          <p:cNvSpPr/>
          <p:nvPr/>
        </p:nvSpPr>
        <p:spPr>
          <a:xfrm flipV="true">
            <a:off x="1028700" y="9239250"/>
            <a:ext cx="16230600" cy="0"/>
          </a:xfrm>
          <a:prstGeom prst="line">
            <a:avLst/>
          </a:prstGeom>
          <a:ln cap="flat" w="38100">
            <a:solidFill>
              <a:srgbClr val="02304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2" id="12"/>
          <p:cNvSpPr txBox="true"/>
          <p:nvPr/>
        </p:nvSpPr>
        <p:spPr>
          <a:xfrm rot="0">
            <a:off x="13358767" y="9394534"/>
            <a:ext cx="3900533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79"/>
              </a:lnSpc>
            </a:pPr>
            <a:r>
              <a:rPr lang="en-US" sz="1599" spc="79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HAMZA KALIM</a:t>
            </a:r>
          </a:p>
        </p:txBody>
      </p:sp>
      <p:sp>
        <p:nvSpPr>
          <p:cNvPr name="Freeform 13" id="13"/>
          <p:cNvSpPr/>
          <p:nvPr/>
        </p:nvSpPr>
        <p:spPr>
          <a:xfrm flipH="true" flipV="false" rot="0">
            <a:off x="-739347" y="-1155995"/>
            <a:ext cx="4729929" cy="3843707"/>
          </a:xfrm>
          <a:custGeom>
            <a:avLst/>
            <a:gdLst/>
            <a:ahLst/>
            <a:cxnLst/>
            <a:rect r="r" b="b" t="t" l="l"/>
            <a:pathLst>
              <a:path h="3843707" w="4729929">
                <a:moveTo>
                  <a:pt x="4729929" y="0"/>
                </a:moveTo>
                <a:lnTo>
                  <a:pt x="0" y="0"/>
                </a:lnTo>
                <a:lnTo>
                  <a:pt x="0" y="3843707"/>
                </a:lnTo>
                <a:lnTo>
                  <a:pt x="4729929" y="3843707"/>
                </a:lnTo>
                <a:lnTo>
                  <a:pt x="4729929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2019151" y="1089332"/>
            <a:ext cx="5346688" cy="8300388"/>
            <a:chOff x="0" y="0"/>
            <a:chExt cx="7128918" cy="11067185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1024834" y="0"/>
              <a:ext cx="3353465" cy="11067185"/>
            </a:xfrm>
            <a:custGeom>
              <a:avLst/>
              <a:gdLst/>
              <a:ahLst/>
              <a:cxnLst/>
              <a:rect r="r" b="b" t="t" l="l"/>
              <a:pathLst>
                <a:path h="11067185" w="3353465">
                  <a:moveTo>
                    <a:pt x="0" y="0"/>
                  </a:moveTo>
                  <a:lnTo>
                    <a:pt x="3353465" y="0"/>
                  </a:lnTo>
                  <a:lnTo>
                    <a:pt x="3353465" y="11067185"/>
                  </a:lnTo>
                  <a:lnTo>
                    <a:pt x="0" y="110671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105734" t="-2419" r="-132271" b="0"/>
              </a:stretch>
            </a:blip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0" y="10533069"/>
              <a:ext cx="207326" cy="55291"/>
            </a:xfrm>
            <a:custGeom>
              <a:avLst/>
              <a:gdLst/>
              <a:ahLst/>
              <a:cxnLst/>
              <a:rect r="r" b="b" t="t" l="l"/>
              <a:pathLst>
                <a:path h="55291" w="207326">
                  <a:moveTo>
                    <a:pt x="0" y="0"/>
                  </a:moveTo>
                  <a:lnTo>
                    <a:pt x="207326" y="0"/>
                  </a:lnTo>
                  <a:lnTo>
                    <a:pt x="207326" y="55292"/>
                  </a:lnTo>
                  <a:lnTo>
                    <a:pt x="0" y="55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1423121" t="-20381848" r="-3939144" b="0"/>
              </a:stretch>
            </a:blip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3794139" y="16665"/>
              <a:ext cx="3334779" cy="11039501"/>
            </a:xfrm>
            <a:custGeom>
              <a:avLst/>
              <a:gdLst/>
              <a:ahLst/>
              <a:cxnLst/>
              <a:rect r="r" b="b" t="t" l="l"/>
              <a:pathLst>
                <a:path h="11039501" w="3334779">
                  <a:moveTo>
                    <a:pt x="0" y="0"/>
                  </a:moveTo>
                  <a:lnTo>
                    <a:pt x="3334779" y="0"/>
                  </a:lnTo>
                  <a:lnTo>
                    <a:pt x="3334779" y="11039501"/>
                  </a:lnTo>
                  <a:lnTo>
                    <a:pt x="0" y="110395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30790" t="-2583" r="-208802" b="0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414337" y="5544791"/>
            <a:ext cx="3405817" cy="1331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5"/>
              </a:lnSpc>
              <a:spcBef>
                <a:spcPct val="0"/>
              </a:spcBef>
            </a:pPr>
            <a:r>
              <a:rPr lang="en-US" sz="2027" spc="101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Stage de 2ème année ou Alternance en Data (Data Analyst / Data Engineer / Data Scientist)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5588514" y="5641871"/>
            <a:ext cx="3052620" cy="9989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5"/>
              </a:lnSpc>
            </a:pPr>
            <a:r>
              <a:rPr lang="en-US" sz="2027" spc="101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3ème année parcours HPC et Big Data</a:t>
            </a:r>
          </a:p>
          <a:p>
            <a:pPr algn="ctr">
              <a:lnSpc>
                <a:spcPts val="2635"/>
              </a:lnSpc>
              <a:spcBef>
                <a:spcPct val="0"/>
              </a:spcBef>
            </a:pPr>
            <a:r>
              <a:rPr lang="en-US" sz="2027" spc="101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(Alternance)</a:t>
            </a:r>
          </a:p>
        </p:txBody>
      </p:sp>
      <p:grpSp>
        <p:nvGrpSpPr>
          <p:cNvPr name="Group 20" id="20"/>
          <p:cNvGrpSpPr/>
          <p:nvPr/>
        </p:nvGrpSpPr>
        <p:grpSpPr>
          <a:xfrm rot="-10800000">
            <a:off x="10605467" y="897279"/>
            <a:ext cx="5346688" cy="8480899"/>
            <a:chOff x="0" y="0"/>
            <a:chExt cx="7128918" cy="1130786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1078434" y="0"/>
              <a:ext cx="3299864" cy="11109397"/>
            </a:xfrm>
            <a:custGeom>
              <a:avLst/>
              <a:gdLst/>
              <a:ahLst/>
              <a:cxnLst/>
              <a:rect r="r" b="b" t="t" l="l"/>
              <a:pathLst>
                <a:path h="11109397" w="3299864">
                  <a:moveTo>
                    <a:pt x="0" y="0"/>
                  </a:moveTo>
                  <a:lnTo>
                    <a:pt x="3299865" y="0"/>
                  </a:lnTo>
                  <a:lnTo>
                    <a:pt x="3299865" y="11109397"/>
                  </a:lnTo>
                  <a:lnTo>
                    <a:pt x="0" y="11109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109075" t="-144" r="-134420" b="-1885"/>
              </a:stretch>
            </a:blip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0" y="10784769"/>
              <a:ext cx="207326" cy="55291"/>
            </a:xfrm>
            <a:custGeom>
              <a:avLst/>
              <a:gdLst/>
              <a:ahLst/>
              <a:cxnLst/>
              <a:rect r="r" b="b" t="t" l="l"/>
              <a:pathLst>
                <a:path h="55291" w="207326">
                  <a:moveTo>
                    <a:pt x="0" y="0"/>
                  </a:moveTo>
                  <a:lnTo>
                    <a:pt x="207326" y="0"/>
                  </a:lnTo>
                  <a:lnTo>
                    <a:pt x="207326" y="55291"/>
                  </a:lnTo>
                  <a:lnTo>
                    <a:pt x="0" y="552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-1423121" t="-20381848" r="-3939144" b="0"/>
              </a:stretch>
            </a:blip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3794139" y="268364"/>
              <a:ext cx="3334779" cy="11039501"/>
            </a:xfrm>
            <a:custGeom>
              <a:avLst/>
              <a:gdLst/>
              <a:ahLst/>
              <a:cxnLst/>
              <a:rect r="r" b="b" t="t" l="l"/>
              <a:pathLst>
                <a:path h="11039501" w="3334779">
                  <a:moveTo>
                    <a:pt x="0" y="0"/>
                  </a:moveTo>
                  <a:lnTo>
                    <a:pt x="3334779" y="0"/>
                  </a:lnTo>
                  <a:lnTo>
                    <a:pt x="3334779" y="11039502"/>
                  </a:lnTo>
                  <a:lnTo>
                    <a:pt x="0" y="110395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-30790" t="-2583" r="-208802" b="0"/>
              </a:stretch>
            </a:blipFill>
          </p:spPr>
        </p:sp>
      </p:grpSp>
      <p:sp>
        <p:nvSpPr>
          <p:cNvPr name="TextBox 24" id="24"/>
          <p:cNvSpPr txBox="true"/>
          <p:nvPr/>
        </p:nvSpPr>
        <p:spPr>
          <a:xfrm rot="0">
            <a:off x="9414451" y="5641871"/>
            <a:ext cx="3052620" cy="666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5"/>
              </a:lnSpc>
            </a:pPr>
            <a:r>
              <a:rPr lang="en-US" sz="2027" spc="101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Mastère spécialisé</a:t>
            </a:r>
          </a:p>
          <a:p>
            <a:pPr algn="ctr">
              <a:lnSpc>
                <a:spcPts val="2635"/>
              </a:lnSpc>
              <a:spcBef>
                <a:spcPct val="0"/>
              </a:spcBef>
            </a:pPr>
            <a:r>
              <a:rPr lang="en-US" sz="2027" spc="101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ValDom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3389947" y="5544791"/>
            <a:ext cx="3052620" cy="13310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5"/>
              </a:lnSpc>
              <a:spcBef>
                <a:spcPct val="0"/>
              </a:spcBef>
            </a:pPr>
            <a:r>
              <a:rPr lang="en-US" sz="2027" spc="101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Travail dans une startup ou une ESN (Sopra-Steria, Capgemini etc ...)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230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44000" y="9239250"/>
            <a:ext cx="8115300" cy="0"/>
          </a:xfrm>
          <a:prstGeom prst="line">
            <a:avLst/>
          </a:prstGeom>
          <a:ln cap="flat" w="38100">
            <a:solidFill>
              <a:srgbClr val="02304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flipV="true">
            <a:off x="1028700" y="9239250"/>
            <a:ext cx="1623060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14155210" y="-615843"/>
            <a:ext cx="4729929" cy="3843707"/>
          </a:xfrm>
          <a:custGeom>
            <a:avLst/>
            <a:gdLst/>
            <a:ahLst/>
            <a:cxnLst/>
            <a:rect r="r" b="b" t="t" l="l"/>
            <a:pathLst>
              <a:path h="3843707" w="4729929">
                <a:moveTo>
                  <a:pt x="0" y="0"/>
                </a:moveTo>
                <a:lnTo>
                  <a:pt x="4729929" y="0"/>
                </a:lnTo>
                <a:lnTo>
                  <a:pt x="4729929" y="3843707"/>
                </a:lnTo>
                <a:lnTo>
                  <a:pt x="0" y="38437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-5400000">
            <a:off x="-1524437" y="5436068"/>
            <a:ext cx="5809898" cy="1002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9"/>
              </a:lnSpc>
            </a:pPr>
            <a:r>
              <a:rPr lang="en-US" sz="6499" spc="-324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ÉVOLUTIONS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-5400000">
            <a:off x="-1305374" y="237368"/>
            <a:ext cx="5107990" cy="873002"/>
          </a:xfrm>
          <a:custGeom>
            <a:avLst/>
            <a:gdLst/>
            <a:ahLst/>
            <a:cxnLst/>
            <a:rect r="r" b="b" t="t" l="l"/>
            <a:pathLst>
              <a:path h="873002" w="5107990">
                <a:moveTo>
                  <a:pt x="0" y="0"/>
                </a:moveTo>
                <a:lnTo>
                  <a:pt x="5107990" y="0"/>
                </a:lnTo>
                <a:lnTo>
                  <a:pt x="5107990" y="873002"/>
                </a:lnTo>
                <a:lnTo>
                  <a:pt x="0" y="8730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927757" y="1895335"/>
            <a:ext cx="5508651" cy="2274233"/>
          </a:xfrm>
          <a:custGeom>
            <a:avLst/>
            <a:gdLst/>
            <a:ahLst/>
            <a:cxnLst/>
            <a:rect r="r" b="b" t="t" l="l"/>
            <a:pathLst>
              <a:path h="2274233" w="5508651">
                <a:moveTo>
                  <a:pt x="0" y="0"/>
                </a:moveTo>
                <a:lnTo>
                  <a:pt x="5508651" y="0"/>
                </a:lnTo>
                <a:lnTo>
                  <a:pt x="5508651" y="2274233"/>
                </a:lnTo>
                <a:lnTo>
                  <a:pt x="0" y="227423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6927757" y="4296364"/>
            <a:ext cx="5508651" cy="2274233"/>
          </a:xfrm>
          <a:custGeom>
            <a:avLst/>
            <a:gdLst/>
            <a:ahLst/>
            <a:cxnLst/>
            <a:rect r="r" b="b" t="t" l="l"/>
            <a:pathLst>
              <a:path h="2274233" w="5508651">
                <a:moveTo>
                  <a:pt x="0" y="0"/>
                </a:moveTo>
                <a:lnTo>
                  <a:pt x="5508651" y="0"/>
                </a:lnTo>
                <a:lnTo>
                  <a:pt x="5508651" y="2274233"/>
                </a:lnTo>
                <a:lnTo>
                  <a:pt x="0" y="227423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927757" y="6694422"/>
            <a:ext cx="5508651" cy="2274233"/>
          </a:xfrm>
          <a:custGeom>
            <a:avLst/>
            <a:gdLst/>
            <a:ahLst/>
            <a:cxnLst/>
            <a:rect r="r" b="b" t="t" l="l"/>
            <a:pathLst>
              <a:path h="2274233" w="5508651">
                <a:moveTo>
                  <a:pt x="0" y="0"/>
                </a:moveTo>
                <a:lnTo>
                  <a:pt x="5508651" y="0"/>
                </a:lnTo>
                <a:lnTo>
                  <a:pt x="5508651" y="2274233"/>
                </a:lnTo>
                <a:lnTo>
                  <a:pt x="0" y="227423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5689382" y="2048332"/>
            <a:ext cx="677030" cy="6770296"/>
          </a:xfrm>
          <a:custGeom>
            <a:avLst/>
            <a:gdLst/>
            <a:ahLst/>
            <a:cxnLst/>
            <a:rect r="r" b="b" t="t" l="l"/>
            <a:pathLst>
              <a:path h="6770296" w="677030">
                <a:moveTo>
                  <a:pt x="0" y="0"/>
                </a:moveTo>
                <a:lnTo>
                  <a:pt x="677029" y="0"/>
                </a:lnTo>
                <a:lnTo>
                  <a:pt x="677029" y="6770297"/>
                </a:lnTo>
                <a:lnTo>
                  <a:pt x="0" y="6770297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3358767" y="9394534"/>
            <a:ext cx="3900533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79"/>
              </a:lnSpc>
            </a:pPr>
            <a:r>
              <a:rPr lang="en-US" sz="1599" spc="79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hello@reallygreatsite.com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358767" y="9394534"/>
            <a:ext cx="3900533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79"/>
              </a:lnSpc>
            </a:pPr>
            <a:r>
              <a:rPr lang="en-US" sz="1599" spc="7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HAMZA KALIM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190142" y="2819182"/>
            <a:ext cx="5136282" cy="5408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60"/>
              </a:lnSpc>
            </a:pPr>
            <a:r>
              <a:rPr lang="en-US" sz="3573" spc="-178">
                <a:solidFill>
                  <a:srgbClr val="023047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LEAD DATA ENGINEER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190142" y="5007682"/>
            <a:ext cx="4818457" cy="10958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60"/>
              </a:lnSpc>
            </a:pPr>
            <a:r>
              <a:rPr lang="en-US" sz="3573" spc="-178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ARCHITECTE DATA / CLOUD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100306" y="7559852"/>
            <a:ext cx="5163554" cy="5433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360"/>
              </a:lnSpc>
            </a:pPr>
            <a:r>
              <a:rPr lang="en-US" sz="3573" spc="-178">
                <a:solidFill>
                  <a:srgbClr val="023047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EXPERT DATA &amp; IA </a:t>
            </a:r>
          </a:p>
        </p:txBody>
      </p:sp>
      <p:sp>
        <p:nvSpPr>
          <p:cNvPr name="TextBox 16" id="16"/>
          <p:cNvSpPr txBox="true"/>
          <p:nvPr/>
        </p:nvSpPr>
        <p:spPr>
          <a:xfrm rot="-5400000">
            <a:off x="3443573" y="4932148"/>
            <a:ext cx="2904949" cy="10026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29"/>
              </a:lnSpc>
            </a:pPr>
            <a:r>
              <a:rPr lang="en-US" sz="6499" spc="-324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+5 ANS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-10800000">
            <a:off x="-2092618" y="2389028"/>
            <a:ext cx="8840400" cy="2453040"/>
            <a:chOff x="0" y="0"/>
            <a:chExt cx="1464607" cy="4064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17780" y="22860"/>
              <a:ext cx="1439207" cy="360680"/>
            </a:xfrm>
            <a:custGeom>
              <a:avLst/>
              <a:gdLst/>
              <a:ahLst/>
              <a:cxnLst/>
              <a:rect r="r" b="b" t="t" l="l"/>
              <a:pathLst>
                <a:path h="360680" w="1439207">
                  <a:moveTo>
                    <a:pt x="1439207" y="180340"/>
                  </a:moveTo>
                  <a:cubicBezTo>
                    <a:pt x="1439207" y="81280"/>
                    <a:pt x="1359197" y="0"/>
                    <a:pt x="1258866" y="0"/>
                  </a:cubicBezTo>
                  <a:lnTo>
                    <a:pt x="172720" y="0"/>
                  </a:lnTo>
                  <a:lnTo>
                    <a:pt x="172720" y="1270"/>
                  </a:lnTo>
                  <a:cubicBezTo>
                    <a:pt x="76200" y="5080"/>
                    <a:pt x="0" y="83820"/>
                    <a:pt x="0" y="180340"/>
                  </a:cubicBezTo>
                  <a:cubicBezTo>
                    <a:pt x="0" y="276860"/>
                    <a:pt x="77470" y="355600"/>
                    <a:pt x="172720" y="359410"/>
                  </a:cubicBezTo>
                  <a:lnTo>
                    <a:pt x="172720" y="360680"/>
                  </a:lnTo>
                  <a:lnTo>
                    <a:pt x="1258866" y="360680"/>
                  </a:lnTo>
                  <a:cubicBezTo>
                    <a:pt x="1357926" y="360680"/>
                    <a:pt x="1439207" y="279400"/>
                    <a:pt x="1439207" y="180340"/>
                  </a:cubicBezTo>
                  <a:close/>
                </a:path>
              </a:pathLst>
            </a:custGeom>
            <a:solidFill>
              <a:srgbClr val="023047"/>
            </a:solidFill>
          </p:spPr>
        </p:sp>
      </p:grpSp>
      <p:sp>
        <p:nvSpPr>
          <p:cNvPr name="Freeform 4" id="4"/>
          <p:cNvSpPr/>
          <p:nvPr/>
        </p:nvSpPr>
        <p:spPr>
          <a:xfrm flipH="true" flipV="true" rot="3621474">
            <a:off x="-1054933" y="-430389"/>
            <a:ext cx="4534793" cy="3685133"/>
          </a:xfrm>
          <a:custGeom>
            <a:avLst/>
            <a:gdLst/>
            <a:ahLst/>
            <a:cxnLst/>
            <a:rect r="r" b="b" t="t" l="l"/>
            <a:pathLst>
              <a:path h="3685133" w="4534793">
                <a:moveTo>
                  <a:pt x="4534793" y="3685132"/>
                </a:moveTo>
                <a:lnTo>
                  <a:pt x="0" y="3685132"/>
                </a:lnTo>
                <a:lnTo>
                  <a:pt x="0" y="0"/>
                </a:lnTo>
                <a:lnTo>
                  <a:pt x="4534793" y="0"/>
                </a:lnTo>
                <a:lnTo>
                  <a:pt x="4534793" y="3685132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-5400000">
            <a:off x="14470620" y="5880250"/>
            <a:ext cx="4715285" cy="8620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32"/>
              </a:lnSpc>
            </a:pPr>
            <a:r>
              <a:rPr lang="en-US" sz="5600" spc="-280">
                <a:solidFill>
                  <a:srgbClr val="023047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RECHERCHES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-5400000">
            <a:off x="14064476" y="820275"/>
            <a:ext cx="5107990" cy="873002"/>
          </a:xfrm>
          <a:custGeom>
            <a:avLst/>
            <a:gdLst/>
            <a:ahLst/>
            <a:cxnLst/>
            <a:rect r="r" b="b" t="t" l="l"/>
            <a:pathLst>
              <a:path h="873002" w="5107990">
                <a:moveTo>
                  <a:pt x="0" y="0"/>
                </a:moveTo>
                <a:lnTo>
                  <a:pt x="5107990" y="0"/>
                </a:lnTo>
                <a:lnTo>
                  <a:pt x="5107990" y="873002"/>
                </a:lnTo>
                <a:lnTo>
                  <a:pt x="0" y="8730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7" id="7"/>
          <p:cNvSpPr/>
          <p:nvPr/>
        </p:nvSpPr>
        <p:spPr>
          <a:xfrm>
            <a:off x="9144000" y="9239250"/>
            <a:ext cx="8115300" cy="0"/>
          </a:xfrm>
          <a:prstGeom prst="line">
            <a:avLst/>
          </a:prstGeom>
          <a:ln cap="flat" w="38100">
            <a:solidFill>
              <a:srgbClr val="02304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flipV="true">
            <a:off x="1028700" y="9239250"/>
            <a:ext cx="16230600" cy="0"/>
          </a:xfrm>
          <a:prstGeom prst="line">
            <a:avLst/>
          </a:prstGeom>
          <a:ln cap="flat" w="38100">
            <a:solidFill>
              <a:srgbClr val="02304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9" id="9"/>
          <p:cNvSpPr txBox="true"/>
          <p:nvPr/>
        </p:nvSpPr>
        <p:spPr>
          <a:xfrm rot="0">
            <a:off x="13358767" y="9394534"/>
            <a:ext cx="3900533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79"/>
              </a:lnSpc>
            </a:pPr>
            <a:r>
              <a:rPr lang="en-US" sz="1599" spc="79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HAMZA KALIM</a:t>
            </a:r>
          </a:p>
        </p:txBody>
      </p:sp>
      <p:grpSp>
        <p:nvGrpSpPr>
          <p:cNvPr name="Group 10" id="10"/>
          <p:cNvGrpSpPr/>
          <p:nvPr/>
        </p:nvGrpSpPr>
        <p:grpSpPr>
          <a:xfrm rot="-10800000">
            <a:off x="-1656181" y="4519007"/>
            <a:ext cx="9301874" cy="2182122"/>
            <a:chOff x="0" y="0"/>
            <a:chExt cx="1732388" cy="4064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17780" y="22860"/>
              <a:ext cx="1706988" cy="360680"/>
            </a:xfrm>
            <a:custGeom>
              <a:avLst/>
              <a:gdLst/>
              <a:ahLst/>
              <a:cxnLst/>
              <a:rect r="r" b="b" t="t" l="l"/>
              <a:pathLst>
                <a:path h="360680" w="1706988">
                  <a:moveTo>
                    <a:pt x="1706988" y="180340"/>
                  </a:moveTo>
                  <a:cubicBezTo>
                    <a:pt x="1706988" y="81280"/>
                    <a:pt x="1626978" y="0"/>
                    <a:pt x="1526648" y="0"/>
                  </a:cubicBezTo>
                  <a:lnTo>
                    <a:pt x="172720" y="0"/>
                  </a:lnTo>
                  <a:lnTo>
                    <a:pt x="172720" y="1270"/>
                  </a:lnTo>
                  <a:cubicBezTo>
                    <a:pt x="76200" y="5080"/>
                    <a:pt x="0" y="83820"/>
                    <a:pt x="0" y="180340"/>
                  </a:cubicBezTo>
                  <a:cubicBezTo>
                    <a:pt x="0" y="276860"/>
                    <a:pt x="77470" y="355600"/>
                    <a:pt x="172720" y="359410"/>
                  </a:cubicBezTo>
                  <a:lnTo>
                    <a:pt x="172720" y="360680"/>
                  </a:lnTo>
                  <a:lnTo>
                    <a:pt x="1526648" y="360680"/>
                  </a:lnTo>
                  <a:cubicBezTo>
                    <a:pt x="1625707" y="360680"/>
                    <a:pt x="1706988" y="279400"/>
                    <a:pt x="1706988" y="180340"/>
                  </a:cubicBezTo>
                  <a:close/>
                </a:path>
              </a:pathLst>
            </a:custGeom>
            <a:solidFill>
              <a:srgbClr val="67A4D8"/>
            </a:solidFill>
          </p:spPr>
        </p:sp>
      </p:grpSp>
      <p:grpSp>
        <p:nvGrpSpPr>
          <p:cNvPr name="Group 12" id="12"/>
          <p:cNvGrpSpPr/>
          <p:nvPr/>
        </p:nvGrpSpPr>
        <p:grpSpPr>
          <a:xfrm rot="-10800000">
            <a:off x="-1320174" y="6453724"/>
            <a:ext cx="10660855" cy="2081299"/>
            <a:chOff x="0" y="0"/>
            <a:chExt cx="2081667" cy="4064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7780" y="22860"/>
              <a:ext cx="2056267" cy="360680"/>
            </a:xfrm>
            <a:custGeom>
              <a:avLst/>
              <a:gdLst/>
              <a:ahLst/>
              <a:cxnLst/>
              <a:rect r="r" b="b" t="t" l="l"/>
              <a:pathLst>
                <a:path h="360680" w="2056267">
                  <a:moveTo>
                    <a:pt x="2056267" y="180340"/>
                  </a:moveTo>
                  <a:cubicBezTo>
                    <a:pt x="2056267" y="81280"/>
                    <a:pt x="1976258" y="0"/>
                    <a:pt x="1875927" y="0"/>
                  </a:cubicBezTo>
                  <a:lnTo>
                    <a:pt x="172720" y="0"/>
                  </a:lnTo>
                  <a:lnTo>
                    <a:pt x="172720" y="1270"/>
                  </a:lnTo>
                  <a:cubicBezTo>
                    <a:pt x="76200" y="5080"/>
                    <a:pt x="0" y="83820"/>
                    <a:pt x="0" y="180340"/>
                  </a:cubicBezTo>
                  <a:cubicBezTo>
                    <a:pt x="0" y="276860"/>
                    <a:pt x="77470" y="355600"/>
                    <a:pt x="172720" y="359410"/>
                  </a:cubicBezTo>
                  <a:lnTo>
                    <a:pt x="172720" y="360680"/>
                  </a:lnTo>
                  <a:lnTo>
                    <a:pt x="1875927" y="360680"/>
                  </a:lnTo>
                  <a:cubicBezTo>
                    <a:pt x="1974987" y="360680"/>
                    <a:pt x="2056267" y="279400"/>
                    <a:pt x="2056267" y="180340"/>
                  </a:cubicBezTo>
                  <a:close/>
                </a:path>
              </a:pathLst>
            </a:custGeom>
            <a:solidFill>
              <a:srgbClr val="13538A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1642096" y="2657996"/>
            <a:ext cx="2575722" cy="4778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16"/>
              </a:lnSpc>
            </a:pPr>
            <a:r>
              <a:rPr lang="en-US" sz="3128" spc="-156" b="true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Lu</a:t>
            </a:r>
            <a:r>
              <a:rPr lang="en-US" b="true" sz="3128" spc="-156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c Gracianette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07689" y="3069150"/>
            <a:ext cx="3749859" cy="374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2438" spc="-121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(Architecte du</a:t>
            </a:r>
            <a:r>
              <a:rPr lang="en-US" sz="2438" spc="-121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 Domaine DATA)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66043" y="3612941"/>
            <a:ext cx="5890996" cy="7367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2438" spc="-12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Rencontré via</a:t>
            </a:r>
            <a:r>
              <a:rPr lang="en-US" sz="2438" spc="-12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MyJobGlasses. Travaille chez La Banque Postale.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91425" y="4811460"/>
            <a:ext cx="5087765" cy="4778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16"/>
              </a:lnSpc>
            </a:pPr>
            <a:r>
              <a:rPr lang="en-US" sz="3128" spc="-156" b="true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Mohamed El</a:t>
            </a:r>
            <a:r>
              <a:rPr lang="en-US" b="true" sz="3128" spc="-156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 Mokhtar El Waghf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863282" y="5270239"/>
            <a:ext cx="3749859" cy="374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2438" spc="-121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(Data Engineer</a:t>
            </a:r>
            <a:r>
              <a:rPr lang="en-US" sz="2438" spc="-121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66043" y="5835223"/>
            <a:ext cx="7307181" cy="3652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2438" spc="-12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Rencontré via</a:t>
            </a:r>
            <a:r>
              <a:rPr lang="en-US" sz="2438" spc="-12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Linkedin. Travaille chez Side.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788205" y="6691604"/>
            <a:ext cx="5087765" cy="4778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16"/>
              </a:lnSpc>
            </a:pPr>
            <a:r>
              <a:rPr lang="en-US" sz="3128" spc="-156" b="true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Ya</a:t>
            </a:r>
            <a:r>
              <a:rPr lang="en-US" b="true" sz="3128" spc="-156">
                <a:solidFill>
                  <a:srgbClr val="FFFFFF"/>
                </a:solidFill>
                <a:latin typeface="HK Grotesk Bold"/>
                <a:ea typeface="HK Grotesk Bold"/>
                <a:cs typeface="HK Grotesk Bold"/>
                <a:sym typeface="HK Grotesk Bold"/>
              </a:rPr>
              <a:t>hya YOUNES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3282832" y="7082129"/>
            <a:ext cx="3749859" cy="3744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2438" spc="-121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(ML Engineer</a:t>
            </a:r>
            <a:r>
              <a:rPr lang="en-US" sz="2438" spc="-121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</a:rPr>
              <a:t>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66043" y="7650272"/>
            <a:ext cx="10021536" cy="3652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2438" spc="-12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Rencontré via</a:t>
            </a:r>
            <a:r>
              <a:rPr lang="en-US" sz="2438" spc="-121">
                <a:solidFill>
                  <a:srgbClr val="FFFFFF"/>
                </a:solidFill>
                <a:latin typeface="Montserrat"/>
                <a:ea typeface="Montserrat"/>
                <a:cs typeface="Montserrat"/>
                <a:sym typeface="Montserrat"/>
              </a:rPr>
              <a:t> Linkedin. Travaille chez Sopra Steria.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4229585" y="1493106"/>
            <a:ext cx="4729929" cy="3843707"/>
          </a:xfrm>
          <a:custGeom>
            <a:avLst/>
            <a:gdLst/>
            <a:ahLst/>
            <a:cxnLst/>
            <a:rect r="r" b="b" t="t" l="l"/>
            <a:pathLst>
              <a:path h="3843707" w="4729929">
                <a:moveTo>
                  <a:pt x="0" y="0"/>
                </a:moveTo>
                <a:lnTo>
                  <a:pt x="4729929" y="0"/>
                </a:lnTo>
                <a:lnTo>
                  <a:pt x="4729929" y="3843707"/>
                </a:lnTo>
                <a:lnTo>
                  <a:pt x="0" y="38437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AutoShape 3" id="3"/>
          <p:cNvSpPr/>
          <p:nvPr/>
        </p:nvSpPr>
        <p:spPr>
          <a:xfrm flipV="true">
            <a:off x="1028700" y="1273490"/>
            <a:ext cx="16230600" cy="0"/>
          </a:xfrm>
          <a:prstGeom prst="line">
            <a:avLst/>
          </a:prstGeom>
          <a:ln cap="flat" w="38100">
            <a:solidFill>
              <a:srgbClr val="02304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" id="4"/>
          <p:cNvSpPr/>
          <p:nvPr/>
        </p:nvSpPr>
        <p:spPr>
          <a:xfrm flipV="true">
            <a:off x="1028700" y="9239250"/>
            <a:ext cx="16230600" cy="0"/>
          </a:xfrm>
          <a:prstGeom prst="line">
            <a:avLst/>
          </a:prstGeom>
          <a:ln cap="flat" w="38100">
            <a:solidFill>
              <a:srgbClr val="02304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-533878" y="5520444"/>
            <a:ext cx="5107990" cy="873002"/>
          </a:xfrm>
          <a:custGeom>
            <a:avLst/>
            <a:gdLst/>
            <a:ahLst/>
            <a:cxnLst/>
            <a:rect r="r" b="b" t="t" l="l"/>
            <a:pathLst>
              <a:path h="873002" w="5107990">
                <a:moveTo>
                  <a:pt x="0" y="0"/>
                </a:moveTo>
                <a:lnTo>
                  <a:pt x="5107990" y="0"/>
                </a:lnTo>
                <a:lnTo>
                  <a:pt x="5107990" y="873002"/>
                </a:lnTo>
                <a:lnTo>
                  <a:pt x="0" y="87300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3358767" y="711200"/>
            <a:ext cx="3900533" cy="299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 marL="0" indent="0" lvl="0">
              <a:lnSpc>
                <a:spcPts val="2470"/>
              </a:lnSpc>
              <a:spcBef>
                <a:spcPct val="0"/>
              </a:spcBef>
            </a:pPr>
            <a:r>
              <a:rPr lang="en-US" sz="1900" spc="95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05/01/2026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3358767" y="9394534"/>
            <a:ext cx="3900533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79"/>
              </a:lnSpc>
            </a:pPr>
            <a:r>
              <a:rPr lang="en-US" sz="1599" spc="79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HAMZA KALIM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091802" y="4511948"/>
            <a:ext cx="8862852" cy="16211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2810"/>
              </a:lnSpc>
            </a:pPr>
            <a:r>
              <a:rPr lang="en-US" sz="10500" spc="-525">
                <a:solidFill>
                  <a:srgbClr val="023047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Merci à vous !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230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9144000" y="9239250"/>
            <a:ext cx="8115300" cy="0"/>
          </a:xfrm>
          <a:prstGeom prst="line">
            <a:avLst/>
          </a:prstGeom>
          <a:ln cap="flat" w="38100">
            <a:solidFill>
              <a:srgbClr val="023047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" id="3"/>
          <p:cNvSpPr/>
          <p:nvPr/>
        </p:nvSpPr>
        <p:spPr>
          <a:xfrm flipV="true">
            <a:off x="1028700" y="9239250"/>
            <a:ext cx="16230600" cy="0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4" id="4"/>
          <p:cNvSpPr/>
          <p:nvPr/>
        </p:nvSpPr>
        <p:spPr>
          <a:xfrm flipH="false" flipV="false" rot="0">
            <a:off x="-4399197" y="5208160"/>
            <a:ext cx="5107990" cy="873002"/>
          </a:xfrm>
          <a:custGeom>
            <a:avLst/>
            <a:gdLst/>
            <a:ahLst/>
            <a:cxnLst/>
            <a:rect r="r" b="b" t="t" l="l"/>
            <a:pathLst>
              <a:path h="873002" w="5107990">
                <a:moveTo>
                  <a:pt x="0" y="0"/>
                </a:moveTo>
                <a:lnTo>
                  <a:pt x="5107990" y="0"/>
                </a:lnTo>
                <a:lnTo>
                  <a:pt x="5107990" y="873002"/>
                </a:lnTo>
                <a:lnTo>
                  <a:pt x="0" y="87300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3358767" y="9394534"/>
            <a:ext cx="3900533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79"/>
              </a:lnSpc>
            </a:pPr>
            <a:r>
              <a:rPr lang="en-US" sz="1599" spc="79">
                <a:solidFill>
                  <a:srgbClr val="023047"/>
                </a:solidFill>
                <a:latin typeface="Open Sans"/>
                <a:ea typeface="Open Sans"/>
                <a:cs typeface="Open Sans"/>
                <a:sym typeface="Open Sans"/>
              </a:rPr>
              <a:t>hello@reallygreatsite.com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358767" y="9394534"/>
            <a:ext cx="3900533" cy="2463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079"/>
              </a:lnSpc>
            </a:pPr>
            <a:r>
              <a:rPr lang="en-US" sz="1599" spc="7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HAMZA KALIM</a:t>
            </a:r>
          </a:p>
        </p:txBody>
      </p:sp>
      <p:sp>
        <p:nvSpPr>
          <p:cNvPr name="Freeform 7" id="7"/>
          <p:cNvSpPr/>
          <p:nvPr/>
        </p:nvSpPr>
        <p:spPr>
          <a:xfrm flipH="true" flipV="false" rot="0">
            <a:off x="-226403" y="-588069"/>
            <a:ext cx="5471403" cy="4446255"/>
          </a:xfrm>
          <a:custGeom>
            <a:avLst/>
            <a:gdLst/>
            <a:ahLst/>
            <a:cxnLst/>
            <a:rect r="r" b="b" t="t" l="l"/>
            <a:pathLst>
              <a:path h="4446255" w="5471403">
                <a:moveTo>
                  <a:pt x="5471403" y="0"/>
                </a:moveTo>
                <a:lnTo>
                  <a:pt x="0" y="0"/>
                </a:lnTo>
                <a:lnTo>
                  <a:pt x="0" y="4446255"/>
                </a:lnTo>
                <a:lnTo>
                  <a:pt x="5471403" y="4446255"/>
                </a:lnTo>
                <a:lnTo>
                  <a:pt x="5471403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7380396" y="452437"/>
            <a:ext cx="5809898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149"/>
              </a:lnSpc>
            </a:pPr>
            <a:r>
              <a:rPr lang="en-US" sz="7499" spc="-374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RÉFÉRENCES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2841089" y="1597771"/>
            <a:ext cx="12990073" cy="7011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47679" indent="-173839" lvl="1">
              <a:lnSpc>
                <a:spcPts val="4025"/>
              </a:lnSpc>
              <a:buAutoNum type="arabicPeriod" startAt="1"/>
            </a:pPr>
            <a:r>
              <a:rPr lang="en-US" sz="1610" spc="-80" u="sng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  <a:hlinkClick r:id="rId6" tooltip="https://www.jedha.co/formation-analyse-donnee/chiffres-sur-le-marche-de-la-data-en-2025"/>
              </a:rPr>
              <a:t>https://www.jedha.co/formation-analyse-donnee/chiffres-sur-le-marche-de-la-data-en-2025 </a:t>
            </a:r>
          </a:p>
          <a:p>
            <a:pPr algn="l" marL="347679" indent="-173839" lvl="1">
              <a:lnSpc>
                <a:spcPts val="4025"/>
              </a:lnSpc>
              <a:buAutoNum type="arabicPeriod" startAt="1"/>
            </a:pPr>
            <a:r>
              <a:rPr lang="en-US" sz="1610" spc="-80" u="sng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  <a:hlinkClick r:id="rId7" tooltip="https://digital-strategy.ec.europa.eu/en/policies/regulatory-framework-ai"/>
              </a:rPr>
              <a:t>https://digital-strategy.ec.europa.eu/en/policies/regulatory-framework-ai </a:t>
            </a:r>
          </a:p>
          <a:p>
            <a:pPr algn="l" marL="347679" indent="-173839" lvl="1">
              <a:lnSpc>
                <a:spcPts val="4025"/>
              </a:lnSpc>
              <a:buAutoNum type="arabicPeriod" startAt="1"/>
            </a:pPr>
            <a:r>
              <a:rPr lang="en-US" sz="1610" spc="-80" u="sng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  <a:hlinkClick r:id="rId8" tooltip="https://www.eurasiareview.com/08012025-future-of-jobs-report-2025-78-million-new-job-opportunities-by-2030-but-urgent-upskilling-needed-to-prepare-workforces/"/>
              </a:rPr>
              <a:t>https://www.eurasiareview.com/08012025-future-of-jobs-report-2025-78-million-new-job-opportunities-by-2030-but-urgent-upskilling-needed-to-prepare-workforces/ </a:t>
            </a:r>
          </a:p>
          <a:p>
            <a:pPr algn="l" marL="347679" indent="-173839" lvl="1">
              <a:lnSpc>
                <a:spcPts val="4025"/>
              </a:lnSpc>
              <a:buAutoNum type="arabicPeriod" startAt="1"/>
            </a:pPr>
            <a:r>
              <a:rPr lang="en-US" sz="1610" spc="-80" u="sng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  <a:hlinkClick r:id="rId9" tooltip="https://thunderbit.com/fr/blog/ai-job-statistics-explained"/>
              </a:rPr>
              <a:t>https://thunderbit.com/fr/blog/ai-job-statistics-explained </a:t>
            </a:r>
          </a:p>
          <a:p>
            <a:pPr algn="l" marL="347679" indent="-173839" lvl="1">
              <a:lnSpc>
                <a:spcPts val="4025"/>
              </a:lnSpc>
              <a:buAutoNum type="arabicPeriod" startAt="1"/>
            </a:pPr>
            <a:r>
              <a:rPr lang="en-US" sz="1610" spc="-80" u="sng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  <a:hlinkClick r:id="rId10" tooltip="https://tietalent.com/fr/blog/188/carrieres-ia-et-data-science-guide-rapide-pour-talents-en-europe"/>
              </a:rPr>
              <a:t>https://tietalent.com/fr/blog/188/carrieres-ia-et-data-science-guide-rapide-pour-talents-en-europe </a:t>
            </a:r>
          </a:p>
          <a:p>
            <a:pPr algn="l" marL="347679" indent="-173839" lvl="1">
              <a:lnSpc>
                <a:spcPts val="4025"/>
              </a:lnSpc>
              <a:buAutoNum type="arabicPeriod" startAt="1"/>
            </a:pPr>
            <a:r>
              <a:rPr lang="en-US" sz="1610" spc="-80" u="sng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  <a:hlinkClick r:id="rId11" tooltip="https://techstaq.io/emerging-tech-salaries-in-europe-2026-trends-and-the-future-of-tech-jobs-through-2030/"/>
              </a:rPr>
              <a:t>https://techstaq.io/emerging-tech-salaries-in-europe-2026-trends-and-the-future-of-tech-jobs-through-2030/ </a:t>
            </a:r>
          </a:p>
          <a:p>
            <a:pPr algn="l" marL="347679" indent="-173839" lvl="1">
              <a:lnSpc>
                <a:spcPts val="4025"/>
              </a:lnSpc>
              <a:buAutoNum type="arabicPeriod" startAt="1"/>
            </a:pPr>
            <a:r>
              <a:rPr lang="en-US" sz="1610" spc="-80" u="sng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  <a:hlinkClick r:id="rId12" tooltip="https://imarticus.org/blog/why-93-of-global-companies-will-rely-on-data-analytics-by-2030-skills-you-need/"/>
              </a:rPr>
              <a:t>https://imarticus.org/blog/why-93-of-global-companies-will-rely-on-data-analytics-by-2030-skills-you-need/ </a:t>
            </a:r>
          </a:p>
          <a:p>
            <a:pPr algn="l" marL="347679" indent="-173839" lvl="1">
              <a:lnSpc>
                <a:spcPts val="4025"/>
              </a:lnSpc>
              <a:buAutoNum type="arabicPeriod" startAt="1"/>
            </a:pPr>
            <a:r>
              <a:rPr lang="en-US" sz="1610" spc="-80" u="sng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  <a:hlinkClick r:id="rId13" tooltip="https://www.info.gouv.fr/grand-dossier/france-2030"/>
              </a:rPr>
              <a:t>https://www.info.gouv.fr/grand-dossier/france-2030 </a:t>
            </a:r>
          </a:p>
          <a:p>
            <a:pPr algn="l" marL="347679" indent="-173839" lvl="1">
              <a:lnSpc>
                <a:spcPts val="4025"/>
              </a:lnSpc>
              <a:buAutoNum type="arabicPeriod" startAt="1"/>
            </a:pPr>
            <a:r>
              <a:rPr lang="en-US" sz="1610" spc="-80" u="sng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  <a:hlinkClick r:id="rId14" tooltip="https://www.klecha-co.com/blog/the-ai-skills-gap-talent-shortages-and-workforce-adaptation"/>
              </a:rPr>
              <a:t>https://www.klecha-co.com/blog/the-ai-skills-gap-talent-shortages-and-workforce-adaptation</a:t>
            </a:r>
          </a:p>
          <a:p>
            <a:pPr algn="l" marL="347679" indent="-173839" lvl="1">
              <a:lnSpc>
                <a:spcPts val="4025"/>
              </a:lnSpc>
              <a:buAutoNum type="arabicPeriod" startAt="1"/>
            </a:pPr>
            <a:r>
              <a:rPr lang="en-US" sz="1610" spc="-80" u="sng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  <a:hlinkClick r:id="rId15" tooltip="https://www.secondtalent.com/resources/global-ai-talent-shortage-statistics/"/>
              </a:rPr>
              <a:t>https://www.secondtalent.com/resources/global-ai-talent-shortage-statistics/</a:t>
            </a:r>
          </a:p>
          <a:p>
            <a:pPr algn="l" marL="347679" indent="-173839" lvl="1">
              <a:lnSpc>
                <a:spcPts val="4025"/>
              </a:lnSpc>
              <a:buAutoNum type="arabicPeriod" startAt="1"/>
            </a:pPr>
            <a:r>
              <a:rPr lang="en-US" sz="1610" spc="-80" u="sng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  <a:hlinkClick r:id="rId16" tooltip="https://qubit-labs.com/ai-talent-shortage/"/>
              </a:rPr>
              <a:t>https://qubit-labs.com/ai-talent-shortage/</a:t>
            </a:r>
          </a:p>
          <a:p>
            <a:pPr algn="l" marL="347679" indent="-173839" lvl="1">
              <a:lnSpc>
                <a:spcPts val="4025"/>
              </a:lnSpc>
              <a:buAutoNum type="arabicPeriod" startAt="1"/>
            </a:pPr>
            <a:r>
              <a:rPr lang="en-US" sz="1610" spc="-80" u="sng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  <a:hlinkClick r:id="rId17" tooltip="https://www.data-bird.co/blog/data-recrutement-quel-marche-en-2024"/>
              </a:rPr>
              <a:t>https://www.data-bird.co/blog/data-recrutement-quel-marche-en-2024</a:t>
            </a:r>
          </a:p>
          <a:p>
            <a:pPr algn="l" marL="347679" indent="-173839" lvl="1">
              <a:lnSpc>
                <a:spcPts val="4025"/>
              </a:lnSpc>
              <a:buAutoNum type="arabicPeriod" startAt="1"/>
            </a:pPr>
            <a:r>
              <a:rPr lang="en-US" sz="1610" spc="-80" u="sng">
                <a:solidFill>
                  <a:srgbClr val="FFFFFF"/>
                </a:solidFill>
                <a:latin typeface="HK Grotesk"/>
                <a:ea typeface="HK Grotesk"/>
                <a:cs typeface="HK Grotesk"/>
                <a:sym typeface="HK Grotesk"/>
                <a:hlinkClick r:id="rId18" tooltip="https://reports.weforum.org/docs/WEF_Future_of_Jobs_Report_2025.pdf"/>
              </a:rPr>
              <a:t>https://reports.weforum.org/docs/WEF_Future_of_Jobs_Report_2025.pdf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DAG81gk7QKc</dc:identifier>
  <dcterms:modified xsi:type="dcterms:W3CDTF">2011-08-01T06:04:30Z</dcterms:modified>
  <cp:revision>1</cp:revision>
  <dc:title>Présentation professionnelle projet marketing moderne bleu et blanc</dc:title>
</cp:coreProperties>
</file>