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K Grotesk" panose="020B0604020202020204" charset="0"/>
      <p:regular r:id="rId10"/>
    </p:embeddedFont>
    <p:embeddedFont>
      <p:font typeface="HK Grotesk Bold" panose="020B0604020202020204" charset="0"/>
      <p:regular r:id="rId11"/>
    </p:embeddedFont>
    <p:embeddedFont>
      <p:font typeface="League Spartan" panose="020B0604020202020204" charset="0"/>
      <p:regular r:id="rId12"/>
    </p:embeddedFont>
    <p:embeddedFont>
      <p:font typeface="Montserrat" panose="020F0502020204030204" pitchFamily="2" charset="0"/>
      <p:regular r:id="rId13"/>
    </p:embeddedFont>
    <p:embeddedFont>
      <p:font typeface="Open Sans" panose="020F0502020204030204" pitchFamily="3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724" y="1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4.sv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urasiareview.com/08012025-future-of-jobs-report-2025-78-million-new-job-opportunities-by-2030-but-urgent-upskilling-needed-to-prepare-workforces/" TargetMode="External"/><Relationship Id="rId13" Type="http://schemas.openxmlformats.org/officeDocument/2006/relationships/hyperlink" Target="https://www.info.gouv.fr/grand-dossier/france-2030" TargetMode="External"/><Relationship Id="rId18" Type="http://schemas.openxmlformats.org/officeDocument/2006/relationships/hyperlink" Target="https://reports.weforum.org/docs/WEF_Future_of_Jobs_Report_2025.pdf" TargetMode="External"/><Relationship Id="rId3" Type="http://schemas.openxmlformats.org/officeDocument/2006/relationships/image" Target="../media/image4.svg"/><Relationship Id="rId7" Type="http://schemas.openxmlformats.org/officeDocument/2006/relationships/hyperlink" Target="https://digital-strategy.ec.europa.eu/en/policies/regulatory-framework-ai" TargetMode="External"/><Relationship Id="rId12" Type="http://schemas.openxmlformats.org/officeDocument/2006/relationships/hyperlink" Target="https://imarticus.org/blog/why-93-of-global-companies-will-rely-on-data-analytics-by-2030-skills-you-need/" TargetMode="External"/><Relationship Id="rId17" Type="http://schemas.openxmlformats.org/officeDocument/2006/relationships/hyperlink" Target="https://www.data-bird.co/blog/data-recrutement-quel-marche-en-2024" TargetMode="External"/><Relationship Id="rId2" Type="http://schemas.openxmlformats.org/officeDocument/2006/relationships/image" Target="../media/image3.png"/><Relationship Id="rId16" Type="http://schemas.openxmlformats.org/officeDocument/2006/relationships/hyperlink" Target="https://qubit-labs.com/ai-talent-shortage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jedha.co/formation-analyse-donnee/chiffres-sur-le-marche-de-la-data-en-2025" TargetMode="External"/><Relationship Id="rId11" Type="http://schemas.openxmlformats.org/officeDocument/2006/relationships/hyperlink" Target="https://techstaq.io/emerging-tech-salaries-in-europe-2026-trends-and-the-future-of-tech-jobs-through-2030/" TargetMode="External"/><Relationship Id="rId5" Type="http://schemas.openxmlformats.org/officeDocument/2006/relationships/image" Target="../media/image2.svg"/><Relationship Id="rId15" Type="http://schemas.openxmlformats.org/officeDocument/2006/relationships/hyperlink" Target="https://www.secondtalent.com/resources/global-ai-talent-shortage-statistics/" TargetMode="External"/><Relationship Id="rId10" Type="http://schemas.openxmlformats.org/officeDocument/2006/relationships/hyperlink" Target="https://tietalent.com/fr/blog/188/carrieres-ia-et-data-science-guide-rapide-pour-talents-en-europe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thunderbit.com/fr/blog/ai-job-statistics-explained" TargetMode="External"/><Relationship Id="rId14" Type="http://schemas.openxmlformats.org/officeDocument/2006/relationships/hyperlink" Target="https://www.klecha-co.com/blog/the-ai-skills-gap-talent-shortages-and-workforce-adapt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27349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4337215" y="1654490"/>
            <a:ext cx="4729929" cy="3843707"/>
          </a:xfrm>
          <a:custGeom>
            <a:avLst/>
            <a:gdLst/>
            <a:ahLst/>
            <a:cxnLst/>
            <a:rect l="l" t="t" r="r" b="b"/>
            <a:pathLst>
              <a:path w="4729929" h="3843707">
                <a:moveTo>
                  <a:pt x="0" y="0"/>
                </a:moveTo>
                <a:lnTo>
                  <a:pt x="4729929" y="0"/>
                </a:lnTo>
                <a:lnTo>
                  <a:pt x="4729929" y="3843707"/>
                </a:lnTo>
                <a:lnTo>
                  <a:pt x="0" y="3843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-533878" y="7501170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294071" y="4175398"/>
            <a:ext cx="13466790" cy="338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02"/>
              </a:lnSpc>
            </a:pPr>
            <a:r>
              <a:rPr lang="en-US" sz="10985" spc="-5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Projet Personnel Professionnel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62118" y="7331954"/>
            <a:ext cx="9475097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</a:pPr>
            <a:r>
              <a:rPr lang="en-US" sz="2100" spc="1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Engineer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11200"/>
            <a:ext cx="2558277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ENSEEIHT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58767" y="719455"/>
            <a:ext cx="3900533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47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05/01/2026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76002" y="9241634"/>
            <a:ext cx="4042796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</a:pPr>
            <a:r>
              <a:rPr lang="en-US" sz="2100" spc="1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5400000">
            <a:off x="-1446538" y="5192482"/>
            <a:ext cx="580989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9"/>
              </a:lnSpc>
            </a:pPr>
            <a:r>
              <a:rPr lang="en-US" sz="7499" spc="-3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PARCOURS</a:t>
            </a:r>
          </a:p>
        </p:txBody>
      </p:sp>
      <p:sp>
        <p:nvSpPr>
          <p:cNvPr id="3" name="Freeform 3"/>
          <p:cNvSpPr/>
          <p:nvPr/>
        </p:nvSpPr>
        <p:spPr>
          <a:xfrm rot="-5400000">
            <a:off x="-1305374" y="237368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4223566" y="273154"/>
            <a:ext cx="9587201" cy="9740693"/>
            <a:chOff x="0" y="0"/>
            <a:chExt cx="12782934" cy="12987590"/>
          </a:xfrm>
        </p:grpSpPr>
        <p:sp>
          <p:nvSpPr>
            <p:cNvPr id="5" name="Freeform 5"/>
            <p:cNvSpPr/>
            <p:nvPr/>
          </p:nvSpPr>
          <p:spPr>
            <a:xfrm>
              <a:off x="0" y="77681"/>
              <a:ext cx="4099181" cy="12909909"/>
            </a:xfrm>
            <a:custGeom>
              <a:avLst/>
              <a:gdLst/>
              <a:ahLst/>
              <a:cxnLst/>
              <a:rect l="l" t="t" r="r" b="b"/>
              <a:pathLst>
                <a:path w="4099181" h="12909909">
                  <a:moveTo>
                    <a:pt x="0" y="0"/>
                  </a:moveTo>
                  <a:lnTo>
                    <a:pt x="4099181" y="0"/>
                  </a:lnTo>
                  <a:lnTo>
                    <a:pt x="4099181" y="12909909"/>
                  </a:lnTo>
                  <a:lnTo>
                    <a:pt x="0" y="1290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744" r="-21728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2889673" y="0"/>
              <a:ext cx="6737128" cy="12987590"/>
            </a:xfrm>
            <a:custGeom>
              <a:avLst/>
              <a:gdLst/>
              <a:ahLst/>
              <a:cxnLst/>
              <a:rect l="l" t="t" r="r" b="b"/>
              <a:pathLst>
                <a:path w="6737128" h="12987590">
                  <a:moveTo>
                    <a:pt x="0" y="0"/>
                  </a:moveTo>
                  <a:lnTo>
                    <a:pt x="6737128" y="0"/>
                  </a:lnTo>
                  <a:lnTo>
                    <a:pt x="6737128" y="12987590"/>
                  </a:lnTo>
                  <a:lnTo>
                    <a:pt x="0" y="12987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503" t="-141" r="-7554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4603024" y="12374732"/>
              <a:ext cx="237891" cy="63443"/>
            </a:xfrm>
            <a:custGeom>
              <a:avLst/>
              <a:gdLst/>
              <a:ahLst/>
              <a:cxnLst/>
              <a:rect l="l" t="t" r="r" b="b"/>
              <a:pathLst>
                <a:path w="237891" h="63443">
                  <a:moveTo>
                    <a:pt x="0" y="0"/>
                  </a:moveTo>
                  <a:lnTo>
                    <a:pt x="237891" y="0"/>
                  </a:lnTo>
                  <a:lnTo>
                    <a:pt x="237891" y="63443"/>
                  </a:lnTo>
                  <a:lnTo>
                    <a:pt x="0" y="63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423121" t="-20381848" r="-393914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8956520" y="307928"/>
              <a:ext cx="3826415" cy="12667019"/>
            </a:xfrm>
            <a:custGeom>
              <a:avLst/>
              <a:gdLst/>
              <a:ahLst/>
              <a:cxnLst/>
              <a:rect l="l" t="t" r="r" b="b"/>
              <a:pathLst>
                <a:path w="3826415" h="12667019">
                  <a:moveTo>
                    <a:pt x="0" y="0"/>
                  </a:moveTo>
                  <a:lnTo>
                    <a:pt x="3826414" y="0"/>
                  </a:lnTo>
                  <a:lnTo>
                    <a:pt x="3826414" y="12667019"/>
                  </a:lnTo>
                  <a:lnTo>
                    <a:pt x="0" y="12667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0790" t="-2583" r="-20880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" name="AutoShape 9"/>
          <p:cNvSpPr/>
          <p:nvPr/>
        </p:nvSpPr>
        <p:spPr>
          <a:xfrm>
            <a:off x="9144000" y="9239250"/>
            <a:ext cx="81153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4003846" y="937180"/>
            <a:ext cx="4729929" cy="3843707"/>
          </a:xfrm>
          <a:custGeom>
            <a:avLst/>
            <a:gdLst/>
            <a:ahLst/>
            <a:cxnLst/>
            <a:rect l="l" t="t" r="r" b="b"/>
            <a:pathLst>
              <a:path w="4729929" h="3843707">
                <a:moveTo>
                  <a:pt x="0" y="0"/>
                </a:moveTo>
                <a:lnTo>
                  <a:pt x="4729929" y="0"/>
                </a:lnTo>
                <a:lnTo>
                  <a:pt x="4729929" y="3843707"/>
                </a:lnTo>
                <a:lnTo>
                  <a:pt x="0" y="3843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hello@reallygreatsite.com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26867" y="5571124"/>
            <a:ext cx="1507133" cy="634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33"/>
              </a:lnSpc>
              <a:spcBef>
                <a:spcPct val="0"/>
              </a:spcBef>
            </a:pPr>
            <a:r>
              <a:rPr lang="en-US" sz="4025" b="1" spc="20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50809" y="5571124"/>
            <a:ext cx="2732715" cy="63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3"/>
              </a:lnSpc>
              <a:spcBef>
                <a:spcPct val="0"/>
              </a:spcBef>
            </a:pPr>
            <a:r>
              <a:rPr lang="en-US" sz="4025" b="1" spc="2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2022-2024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03651" y="6144620"/>
            <a:ext cx="3003806" cy="11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325" spc="116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Baccalauréat</a:t>
            </a:r>
            <a:r>
              <a:rPr lang="en-US" sz="2325" spc="116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Sciences </a:t>
            </a:r>
            <a:r>
              <a:rPr lang="en-US" sz="2325" spc="116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Maths</a:t>
            </a:r>
            <a:r>
              <a:rPr lang="en-US" sz="2325" spc="116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(</a:t>
            </a:r>
            <a:r>
              <a:rPr lang="en-US" sz="2325" spc="116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équivalent</a:t>
            </a:r>
            <a:r>
              <a:rPr lang="en-US" sz="2325" spc="116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Bac 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0889" y="6176624"/>
            <a:ext cx="3412556" cy="11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325" spc="116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Classes </a:t>
            </a:r>
            <a:r>
              <a:rPr lang="en-US" sz="2325" spc="116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Préparatoires</a:t>
            </a:r>
            <a:r>
              <a:rPr lang="en-US" sz="2325" spc="116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MPSI-MP</a:t>
            </a:r>
          </a:p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325" spc="116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 Moulay Youssef 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25970" y="5571124"/>
            <a:ext cx="3609251" cy="63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3"/>
              </a:lnSpc>
              <a:spcBef>
                <a:spcPct val="0"/>
              </a:spcBef>
            </a:pPr>
            <a:r>
              <a:rPr lang="en-US" sz="4025" b="1" spc="2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2024-Présent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42620" y="6176624"/>
            <a:ext cx="3502658" cy="11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325" spc="1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Deuxième année à l’ENSEEIHT parcours HPC et Big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904080" y="-270389"/>
            <a:ext cx="4729929" cy="3843707"/>
          </a:xfrm>
          <a:custGeom>
            <a:avLst/>
            <a:gdLst/>
            <a:ahLst/>
            <a:cxnLst/>
            <a:rect l="l" t="t" r="r" b="b"/>
            <a:pathLst>
              <a:path w="4729929" h="3843707">
                <a:moveTo>
                  <a:pt x="4729929" y="0"/>
                </a:moveTo>
                <a:lnTo>
                  <a:pt x="0" y="0"/>
                </a:lnTo>
                <a:lnTo>
                  <a:pt x="0" y="3843706"/>
                </a:lnTo>
                <a:lnTo>
                  <a:pt x="4729929" y="3843706"/>
                </a:lnTo>
                <a:lnTo>
                  <a:pt x="47299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9144000" y="9239250"/>
            <a:ext cx="81153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3734339" y="2611711"/>
            <a:ext cx="5745399" cy="3018946"/>
          </a:xfrm>
          <a:custGeom>
            <a:avLst/>
            <a:gdLst/>
            <a:ahLst/>
            <a:cxnLst/>
            <a:rect l="l" t="t" r="r" b="b"/>
            <a:pathLst>
              <a:path w="5745399" h="3018946">
                <a:moveTo>
                  <a:pt x="0" y="0"/>
                </a:moveTo>
                <a:lnTo>
                  <a:pt x="5745400" y="0"/>
                </a:lnTo>
                <a:lnTo>
                  <a:pt x="5745400" y="3018946"/>
                </a:lnTo>
                <a:lnTo>
                  <a:pt x="0" y="3018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0843209" y="2639158"/>
            <a:ext cx="5745399" cy="3018946"/>
          </a:xfrm>
          <a:custGeom>
            <a:avLst/>
            <a:gdLst/>
            <a:ahLst/>
            <a:cxnLst/>
            <a:rect l="l" t="t" r="r" b="b"/>
            <a:pathLst>
              <a:path w="5745399" h="3018946">
                <a:moveTo>
                  <a:pt x="0" y="0"/>
                </a:moveTo>
                <a:lnTo>
                  <a:pt x="5745399" y="0"/>
                </a:lnTo>
                <a:lnTo>
                  <a:pt x="5745399" y="3018947"/>
                </a:lnTo>
                <a:lnTo>
                  <a:pt x="0" y="30189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3398601" y="592900"/>
            <a:ext cx="14614608" cy="8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2"/>
              </a:lnSpc>
            </a:pPr>
            <a:r>
              <a:rPr lang="en-US" sz="5600" spc="-280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ANALYSE SWOT DU SECTEUR DE LA DATA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87143" y="1285255"/>
            <a:ext cx="11051489" cy="541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572" spc="-178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( Horizon 2027 )</a:t>
            </a:r>
          </a:p>
        </p:txBody>
      </p:sp>
      <p:sp>
        <p:nvSpPr>
          <p:cNvPr id="9" name="Freeform 9"/>
          <p:cNvSpPr/>
          <p:nvPr/>
        </p:nvSpPr>
        <p:spPr>
          <a:xfrm>
            <a:off x="3734339" y="5915955"/>
            <a:ext cx="5745399" cy="3018946"/>
          </a:xfrm>
          <a:custGeom>
            <a:avLst/>
            <a:gdLst/>
            <a:ahLst/>
            <a:cxnLst/>
            <a:rect l="l" t="t" r="r" b="b"/>
            <a:pathLst>
              <a:path w="5745399" h="3018946">
                <a:moveTo>
                  <a:pt x="0" y="0"/>
                </a:moveTo>
                <a:lnTo>
                  <a:pt x="5745400" y="0"/>
                </a:lnTo>
                <a:lnTo>
                  <a:pt x="5745400" y="3018947"/>
                </a:lnTo>
                <a:lnTo>
                  <a:pt x="0" y="30189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0843209" y="5929679"/>
            <a:ext cx="5745399" cy="3018946"/>
          </a:xfrm>
          <a:custGeom>
            <a:avLst/>
            <a:gdLst/>
            <a:ahLst/>
            <a:cxnLst/>
            <a:rect l="l" t="t" r="r" b="b"/>
            <a:pathLst>
              <a:path w="5745399" h="3018946">
                <a:moveTo>
                  <a:pt x="0" y="0"/>
                </a:moveTo>
                <a:lnTo>
                  <a:pt x="5745399" y="0"/>
                </a:lnTo>
                <a:lnTo>
                  <a:pt x="5745399" y="3018946"/>
                </a:lnTo>
                <a:lnTo>
                  <a:pt x="0" y="3018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5879933" y="2834813"/>
            <a:ext cx="1454211" cy="43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sz="2810" spc="-140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99263" y="3190047"/>
            <a:ext cx="4780053" cy="1953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+41% Croissance emploi data (2025-2030)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78 millions d’emplois créés globalement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≈3,0 Mds€ marché Data en France en 2026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Secteur résilient aux crises économiques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14668" y="2841175"/>
            <a:ext cx="2202481" cy="43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sz="2810" spc="-14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FAIBLESSES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25882" y="3256722"/>
            <a:ext cx="4780053" cy="204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679" lvl="1" indent="-173839" algn="l">
              <a:lnSpc>
                <a:spcPts val="3349"/>
              </a:lnSpc>
              <a:buFont typeface="Arial"/>
              <a:buChar char="•"/>
            </a:pPr>
            <a:r>
              <a:rPr lang="en-US" sz="1610" spc="-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700k d’emplois Data en déficit (2027)</a:t>
            </a:r>
          </a:p>
          <a:p>
            <a:pPr marL="347679" lvl="1" indent="-173839" algn="l">
              <a:lnSpc>
                <a:spcPts val="3349"/>
              </a:lnSpc>
              <a:buFont typeface="Arial"/>
              <a:buChar char="•"/>
            </a:pPr>
            <a:r>
              <a:rPr lang="en-US" sz="1610" spc="-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3.2 postes pour 1 candidat</a:t>
            </a:r>
          </a:p>
          <a:p>
            <a:pPr marL="347679" lvl="1" indent="-173839" algn="l">
              <a:lnSpc>
                <a:spcPts val="3349"/>
              </a:lnSpc>
              <a:buFont typeface="Arial"/>
              <a:buChar char="•"/>
            </a:pPr>
            <a:r>
              <a:rPr lang="en-US" sz="1610" spc="-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4.2M postes vs 2.1M profils (2030)</a:t>
            </a:r>
          </a:p>
          <a:p>
            <a:pPr marL="347679" lvl="1" indent="-173839" algn="l">
              <a:lnSpc>
                <a:spcPts val="3349"/>
              </a:lnSpc>
              <a:buFont typeface="Arial"/>
              <a:buChar char="•"/>
            </a:pPr>
            <a:r>
              <a:rPr lang="en-US" sz="1610" spc="-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68 % des dirigeants déclarent un important manque de compétences 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02135" y="6115737"/>
            <a:ext cx="2774309" cy="43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sz="2810" spc="-14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OPPORTUNITÉS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17013" y="6449807"/>
            <a:ext cx="4780053" cy="197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France 2030 :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stratégie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IA/data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93%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entreprises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utiliseront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les analytics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70k€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salaire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moyen Data Engineer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Europe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53.8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Mds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$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marché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la data </a:t>
            </a:r>
            <a:r>
              <a:rPr lang="en-US" sz="1610" spc="-8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610" spc="-8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Europe (2030)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28754" y="6115737"/>
            <a:ext cx="2774309" cy="43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sz="2810" spc="-140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MENACES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25882" y="6489599"/>
            <a:ext cx="4780053" cy="1953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Automatisation IA accélérée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Domination GAFAM (Microsoft, Google, OpenAI)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RGPD + AI Act : réglementation complexe</a:t>
            </a:r>
          </a:p>
          <a:p>
            <a:pPr marL="347679" lvl="1" indent="-173839" algn="l">
              <a:lnSpc>
                <a:spcPts val="4025"/>
              </a:lnSpc>
              <a:buFont typeface="Arial"/>
              <a:buChar char="•"/>
            </a:pPr>
            <a:r>
              <a:rPr lang="en-US" sz="1610" spc="-8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Skills gap +30%/an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1053" y="900557"/>
            <a:ext cx="8355393" cy="8489163"/>
            <a:chOff x="0" y="0"/>
            <a:chExt cx="11140524" cy="11318884"/>
          </a:xfrm>
        </p:grpSpPr>
        <p:sp>
          <p:nvSpPr>
            <p:cNvPr id="3" name="Freeform 3"/>
            <p:cNvSpPr/>
            <p:nvPr/>
          </p:nvSpPr>
          <p:spPr>
            <a:xfrm>
              <a:off x="0" y="67700"/>
              <a:ext cx="3572499" cy="11251184"/>
            </a:xfrm>
            <a:custGeom>
              <a:avLst/>
              <a:gdLst/>
              <a:ahLst/>
              <a:cxnLst/>
              <a:rect l="l" t="t" r="r" b="b"/>
              <a:pathLst>
                <a:path w="3572499" h="11251184">
                  <a:moveTo>
                    <a:pt x="0" y="0"/>
                  </a:moveTo>
                  <a:lnTo>
                    <a:pt x="3572499" y="0"/>
                  </a:lnTo>
                  <a:lnTo>
                    <a:pt x="3572499" y="11251184"/>
                  </a:lnTo>
                  <a:lnTo>
                    <a:pt x="0" y="11251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744" r="-21728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2518394" y="0"/>
              <a:ext cx="5871510" cy="11318884"/>
            </a:xfrm>
            <a:custGeom>
              <a:avLst/>
              <a:gdLst/>
              <a:ahLst/>
              <a:cxnLst/>
              <a:rect l="l" t="t" r="r" b="b"/>
              <a:pathLst>
                <a:path w="5871510" h="11318884">
                  <a:moveTo>
                    <a:pt x="0" y="0"/>
                  </a:moveTo>
                  <a:lnTo>
                    <a:pt x="5871511" y="0"/>
                  </a:lnTo>
                  <a:lnTo>
                    <a:pt x="5871511" y="11318884"/>
                  </a:lnTo>
                  <a:lnTo>
                    <a:pt x="0" y="1131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7503" t="-141" r="-7554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11606" y="10784769"/>
              <a:ext cx="207326" cy="55291"/>
            </a:xfrm>
            <a:custGeom>
              <a:avLst/>
              <a:gdLst/>
              <a:ahLst/>
              <a:cxnLst/>
              <a:rect l="l" t="t" r="r" b="b"/>
              <a:pathLst>
                <a:path w="207326" h="55291">
                  <a:moveTo>
                    <a:pt x="0" y="0"/>
                  </a:moveTo>
                  <a:lnTo>
                    <a:pt x="207326" y="0"/>
                  </a:lnTo>
                  <a:lnTo>
                    <a:pt x="207326" y="55291"/>
                  </a:lnTo>
                  <a:lnTo>
                    <a:pt x="0" y="5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423121" t="-20381848" r="-393914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7805745" y="268364"/>
              <a:ext cx="3334779" cy="11039501"/>
            </a:xfrm>
            <a:custGeom>
              <a:avLst/>
              <a:gdLst/>
              <a:ahLst/>
              <a:cxnLst/>
              <a:rect l="l" t="t" r="r" b="b"/>
              <a:pathLst>
                <a:path w="3334779" h="11039501">
                  <a:moveTo>
                    <a:pt x="0" y="0"/>
                  </a:moveTo>
                  <a:lnTo>
                    <a:pt x="3334779" y="0"/>
                  </a:lnTo>
                  <a:lnTo>
                    <a:pt x="3334779" y="11039502"/>
                  </a:lnTo>
                  <a:lnTo>
                    <a:pt x="0" y="11039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0790" t="-2583" r="-20880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41381" y="756334"/>
            <a:ext cx="7380186" cy="8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2"/>
              </a:lnSpc>
            </a:pPr>
            <a:r>
              <a:rPr lang="en-US" sz="5600" spc="-280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 PROJET</a:t>
            </a:r>
          </a:p>
        </p:txBody>
      </p:sp>
      <p:sp>
        <p:nvSpPr>
          <p:cNvPr id="8" name="Freeform 8"/>
          <p:cNvSpPr/>
          <p:nvPr/>
        </p:nvSpPr>
        <p:spPr>
          <a:xfrm>
            <a:off x="2985488" y="1028700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2944040" y="592199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AutoShape 10"/>
          <p:cNvSpPr/>
          <p:nvPr/>
        </p:nvSpPr>
        <p:spPr>
          <a:xfrm>
            <a:off x="9144000" y="9239250"/>
            <a:ext cx="81153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-739347" y="-1155995"/>
            <a:ext cx="4729929" cy="3843707"/>
          </a:xfrm>
          <a:custGeom>
            <a:avLst/>
            <a:gdLst/>
            <a:ahLst/>
            <a:cxnLst/>
            <a:rect l="l" t="t" r="r" b="b"/>
            <a:pathLst>
              <a:path w="4729929" h="3843707">
                <a:moveTo>
                  <a:pt x="4729929" y="0"/>
                </a:moveTo>
                <a:lnTo>
                  <a:pt x="0" y="0"/>
                </a:lnTo>
                <a:lnTo>
                  <a:pt x="0" y="3843707"/>
                </a:lnTo>
                <a:lnTo>
                  <a:pt x="4729929" y="3843707"/>
                </a:lnTo>
                <a:lnTo>
                  <a:pt x="472992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4" name="Group 14"/>
          <p:cNvGrpSpPr/>
          <p:nvPr/>
        </p:nvGrpSpPr>
        <p:grpSpPr>
          <a:xfrm>
            <a:off x="2019151" y="1089332"/>
            <a:ext cx="5346688" cy="8300388"/>
            <a:chOff x="0" y="0"/>
            <a:chExt cx="7128918" cy="11067185"/>
          </a:xfrm>
        </p:grpSpPr>
        <p:sp>
          <p:nvSpPr>
            <p:cNvPr id="15" name="Freeform 15"/>
            <p:cNvSpPr/>
            <p:nvPr/>
          </p:nvSpPr>
          <p:spPr>
            <a:xfrm>
              <a:off x="1024834" y="0"/>
              <a:ext cx="3353465" cy="11067185"/>
            </a:xfrm>
            <a:custGeom>
              <a:avLst/>
              <a:gdLst/>
              <a:ahLst/>
              <a:cxnLst/>
              <a:rect l="l" t="t" r="r" b="b"/>
              <a:pathLst>
                <a:path w="3353465" h="11067185">
                  <a:moveTo>
                    <a:pt x="0" y="0"/>
                  </a:moveTo>
                  <a:lnTo>
                    <a:pt x="3353465" y="0"/>
                  </a:lnTo>
                  <a:lnTo>
                    <a:pt x="3353465" y="11067185"/>
                  </a:lnTo>
                  <a:lnTo>
                    <a:pt x="0" y="11067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05734" t="-2419" r="-13227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0533069"/>
              <a:ext cx="207326" cy="55291"/>
            </a:xfrm>
            <a:custGeom>
              <a:avLst/>
              <a:gdLst/>
              <a:ahLst/>
              <a:cxnLst/>
              <a:rect l="l" t="t" r="r" b="b"/>
              <a:pathLst>
                <a:path w="207326" h="55291">
                  <a:moveTo>
                    <a:pt x="0" y="0"/>
                  </a:moveTo>
                  <a:lnTo>
                    <a:pt x="207326" y="0"/>
                  </a:lnTo>
                  <a:lnTo>
                    <a:pt x="207326" y="55292"/>
                  </a:lnTo>
                  <a:lnTo>
                    <a:pt x="0" y="55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423121" t="-20381848" r="-393914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794139" y="16665"/>
              <a:ext cx="3334779" cy="11039501"/>
            </a:xfrm>
            <a:custGeom>
              <a:avLst/>
              <a:gdLst/>
              <a:ahLst/>
              <a:cxnLst/>
              <a:rect l="l" t="t" r="r" b="b"/>
              <a:pathLst>
                <a:path w="3334779" h="11039501">
                  <a:moveTo>
                    <a:pt x="0" y="0"/>
                  </a:moveTo>
                  <a:lnTo>
                    <a:pt x="3334779" y="0"/>
                  </a:lnTo>
                  <a:lnTo>
                    <a:pt x="3334779" y="11039501"/>
                  </a:lnTo>
                  <a:lnTo>
                    <a:pt x="0" y="11039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0790" t="-2583" r="-20880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4337" y="5544791"/>
            <a:ext cx="3405817" cy="133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2027" spc="101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Stage de 2ème année ou Alternance en Data (Data Analyst / Data Engineer / Data Scientist)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88514" y="5641871"/>
            <a:ext cx="3052620" cy="99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027" spc="101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3ème année parcours HPC et Big Data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2027" spc="101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(Alternance)</a:t>
            </a:r>
          </a:p>
        </p:txBody>
      </p:sp>
      <p:grpSp>
        <p:nvGrpSpPr>
          <p:cNvPr id="20" name="Group 20"/>
          <p:cNvGrpSpPr/>
          <p:nvPr/>
        </p:nvGrpSpPr>
        <p:grpSpPr>
          <a:xfrm rot="-10800000">
            <a:off x="10605467" y="897279"/>
            <a:ext cx="5346688" cy="8480899"/>
            <a:chOff x="0" y="0"/>
            <a:chExt cx="7128918" cy="11307866"/>
          </a:xfrm>
        </p:grpSpPr>
        <p:sp>
          <p:nvSpPr>
            <p:cNvPr id="21" name="Freeform 21"/>
            <p:cNvSpPr/>
            <p:nvPr/>
          </p:nvSpPr>
          <p:spPr>
            <a:xfrm>
              <a:off x="1078434" y="0"/>
              <a:ext cx="3299864" cy="11109397"/>
            </a:xfrm>
            <a:custGeom>
              <a:avLst/>
              <a:gdLst/>
              <a:ahLst/>
              <a:cxnLst/>
              <a:rect l="l" t="t" r="r" b="b"/>
              <a:pathLst>
                <a:path w="3299864" h="11109397">
                  <a:moveTo>
                    <a:pt x="0" y="0"/>
                  </a:moveTo>
                  <a:lnTo>
                    <a:pt x="3299865" y="0"/>
                  </a:lnTo>
                  <a:lnTo>
                    <a:pt x="3299865" y="11109397"/>
                  </a:lnTo>
                  <a:lnTo>
                    <a:pt x="0" y="11109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09075" t="-144" r="-134420" b="-188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10784769"/>
              <a:ext cx="207326" cy="55291"/>
            </a:xfrm>
            <a:custGeom>
              <a:avLst/>
              <a:gdLst/>
              <a:ahLst/>
              <a:cxnLst/>
              <a:rect l="l" t="t" r="r" b="b"/>
              <a:pathLst>
                <a:path w="207326" h="55291">
                  <a:moveTo>
                    <a:pt x="0" y="0"/>
                  </a:moveTo>
                  <a:lnTo>
                    <a:pt x="207326" y="0"/>
                  </a:lnTo>
                  <a:lnTo>
                    <a:pt x="207326" y="55291"/>
                  </a:lnTo>
                  <a:lnTo>
                    <a:pt x="0" y="5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423121" t="-20381848" r="-393914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794139" y="268364"/>
              <a:ext cx="3334779" cy="11039501"/>
            </a:xfrm>
            <a:custGeom>
              <a:avLst/>
              <a:gdLst/>
              <a:ahLst/>
              <a:cxnLst/>
              <a:rect l="l" t="t" r="r" b="b"/>
              <a:pathLst>
                <a:path w="3334779" h="11039501">
                  <a:moveTo>
                    <a:pt x="0" y="0"/>
                  </a:moveTo>
                  <a:lnTo>
                    <a:pt x="3334779" y="0"/>
                  </a:lnTo>
                  <a:lnTo>
                    <a:pt x="3334779" y="11039502"/>
                  </a:lnTo>
                  <a:lnTo>
                    <a:pt x="0" y="11039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0790" t="-2583" r="-20880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414451" y="5641871"/>
            <a:ext cx="3052620" cy="6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027" spc="101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Mastère spécialisé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2027" spc="101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ValDom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89947" y="5544791"/>
            <a:ext cx="3052620" cy="133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2027" spc="101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Travail dans une startup ou une ESN (Sopra-Steria, Capgemini etc ...)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9239250"/>
            <a:ext cx="81153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4155210" y="-615843"/>
            <a:ext cx="4729929" cy="3843707"/>
          </a:xfrm>
          <a:custGeom>
            <a:avLst/>
            <a:gdLst/>
            <a:ahLst/>
            <a:cxnLst/>
            <a:rect l="l" t="t" r="r" b="b"/>
            <a:pathLst>
              <a:path w="4729929" h="3843707">
                <a:moveTo>
                  <a:pt x="0" y="0"/>
                </a:moveTo>
                <a:lnTo>
                  <a:pt x="4729929" y="0"/>
                </a:lnTo>
                <a:lnTo>
                  <a:pt x="4729929" y="3843707"/>
                </a:lnTo>
                <a:lnTo>
                  <a:pt x="0" y="3843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 rot="-5400000">
            <a:off x="-1524437" y="5436068"/>
            <a:ext cx="5809898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9"/>
              </a:lnSpc>
            </a:pPr>
            <a:r>
              <a:rPr lang="en-US" sz="6499" spc="-32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ÉVOLUTIONS</a:t>
            </a:r>
          </a:p>
        </p:txBody>
      </p:sp>
      <p:sp>
        <p:nvSpPr>
          <p:cNvPr id="6" name="Freeform 6"/>
          <p:cNvSpPr/>
          <p:nvPr/>
        </p:nvSpPr>
        <p:spPr>
          <a:xfrm rot="-5400000">
            <a:off x="-1305374" y="237368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6927757" y="1895335"/>
            <a:ext cx="5508651" cy="2274233"/>
          </a:xfrm>
          <a:custGeom>
            <a:avLst/>
            <a:gdLst/>
            <a:ahLst/>
            <a:cxnLst/>
            <a:rect l="l" t="t" r="r" b="b"/>
            <a:pathLst>
              <a:path w="5508651" h="2274233">
                <a:moveTo>
                  <a:pt x="0" y="0"/>
                </a:moveTo>
                <a:lnTo>
                  <a:pt x="5508651" y="0"/>
                </a:lnTo>
                <a:lnTo>
                  <a:pt x="5508651" y="2274233"/>
                </a:lnTo>
                <a:lnTo>
                  <a:pt x="0" y="2274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6927757" y="4296364"/>
            <a:ext cx="5508651" cy="2274233"/>
          </a:xfrm>
          <a:custGeom>
            <a:avLst/>
            <a:gdLst/>
            <a:ahLst/>
            <a:cxnLst/>
            <a:rect l="l" t="t" r="r" b="b"/>
            <a:pathLst>
              <a:path w="5508651" h="2274233">
                <a:moveTo>
                  <a:pt x="0" y="0"/>
                </a:moveTo>
                <a:lnTo>
                  <a:pt x="5508651" y="0"/>
                </a:lnTo>
                <a:lnTo>
                  <a:pt x="5508651" y="2274233"/>
                </a:lnTo>
                <a:lnTo>
                  <a:pt x="0" y="2274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6927757" y="6694422"/>
            <a:ext cx="5508651" cy="2274233"/>
          </a:xfrm>
          <a:custGeom>
            <a:avLst/>
            <a:gdLst/>
            <a:ahLst/>
            <a:cxnLst/>
            <a:rect l="l" t="t" r="r" b="b"/>
            <a:pathLst>
              <a:path w="5508651" h="2274233">
                <a:moveTo>
                  <a:pt x="0" y="0"/>
                </a:moveTo>
                <a:lnTo>
                  <a:pt x="5508651" y="0"/>
                </a:lnTo>
                <a:lnTo>
                  <a:pt x="5508651" y="2274233"/>
                </a:lnTo>
                <a:lnTo>
                  <a:pt x="0" y="2274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5689382" y="2048332"/>
            <a:ext cx="677030" cy="6770296"/>
          </a:xfrm>
          <a:custGeom>
            <a:avLst/>
            <a:gdLst/>
            <a:ahLst/>
            <a:cxnLst/>
            <a:rect l="l" t="t" r="r" b="b"/>
            <a:pathLst>
              <a:path w="677030" h="6770296">
                <a:moveTo>
                  <a:pt x="0" y="0"/>
                </a:moveTo>
                <a:lnTo>
                  <a:pt x="677029" y="0"/>
                </a:lnTo>
                <a:lnTo>
                  <a:pt x="677029" y="6770297"/>
                </a:lnTo>
                <a:lnTo>
                  <a:pt x="0" y="6770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hello@reallygreatsite.com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0142" y="2819182"/>
            <a:ext cx="5136282" cy="54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573" spc="-178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LEAD DATA ENGINEER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0142" y="5007682"/>
            <a:ext cx="4818457" cy="1095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573" spc="-17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ARCHITECTE DATA / CLOUD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00306" y="7559852"/>
            <a:ext cx="5163554" cy="543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sz="3573" spc="-178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EXPERT DATA &amp; IA 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3443573" y="4932148"/>
            <a:ext cx="2904949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9"/>
              </a:lnSpc>
            </a:pPr>
            <a:r>
              <a:rPr lang="en-US" sz="6499" spc="-32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+5 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092618" y="2389028"/>
            <a:ext cx="8840400" cy="2453040"/>
            <a:chOff x="0" y="0"/>
            <a:chExt cx="1464607" cy="406400"/>
          </a:xfrm>
        </p:grpSpPr>
        <p:sp>
          <p:nvSpPr>
            <p:cNvPr id="3" name="Freeform 3"/>
            <p:cNvSpPr/>
            <p:nvPr/>
          </p:nvSpPr>
          <p:spPr>
            <a:xfrm>
              <a:off x="17780" y="22860"/>
              <a:ext cx="1439207" cy="360680"/>
            </a:xfrm>
            <a:custGeom>
              <a:avLst/>
              <a:gdLst/>
              <a:ahLst/>
              <a:cxnLst/>
              <a:rect l="l" t="t" r="r" b="b"/>
              <a:pathLst>
                <a:path w="1439207" h="360680">
                  <a:moveTo>
                    <a:pt x="1439207" y="180340"/>
                  </a:moveTo>
                  <a:cubicBezTo>
                    <a:pt x="1439207" y="81280"/>
                    <a:pt x="1359197" y="0"/>
                    <a:pt x="1258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258866" y="360680"/>
                  </a:lnTo>
                  <a:cubicBezTo>
                    <a:pt x="1357926" y="360680"/>
                    <a:pt x="1439207" y="279400"/>
                    <a:pt x="1439207" y="180340"/>
                  </a:cubicBezTo>
                  <a:close/>
                </a:path>
              </a:pathLst>
            </a:custGeom>
            <a:solidFill>
              <a:srgbClr val="023047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Freeform 4"/>
          <p:cNvSpPr/>
          <p:nvPr/>
        </p:nvSpPr>
        <p:spPr>
          <a:xfrm rot="3621474" flipH="1" flipV="1">
            <a:off x="-1054933" y="-430389"/>
            <a:ext cx="4534793" cy="3685133"/>
          </a:xfrm>
          <a:custGeom>
            <a:avLst/>
            <a:gdLst/>
            <a:ahLst/>
            <a:cxnLst/>
            <a:rect l="l" t="t" r="r" b="b"/>
            <a:pathLst>
              <a:path w="4534793" h="3685133">
                <a:moveTo>
                  <a:pt x="4534793" y="3685132"/>
                </a:moveTo>
                <a:lnTo>
                  <a:pt x="0" y="3685132"/>
                </a:lnTo>
                <a:lnTo>
                  <a:pt x="0" y="0"/>
                </a:lnTo>
                <a:lnTo>
                  <a:pt x="4534793" y="0"/>
                </a:lnTo>
                <a:lnTo>
                  <a:pt x="4534793" y="3685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 rot="-5400000">
            <a:off x="14470620" y="5880250"/>
            <a:ext cx="4715285" cy="8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sz="5600" spc="-280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RECHERCHES</a:t>
            </a:r>
          </a:p>
        </p:txBody>
      </p:sp>
      <p:sp>
        <p:nvSpPr>
          <p:cNvPr id="6" name="Freeform 6"/>
          <p:cNvSpPr/>
          <p:nvPr/>
        </p:nvSpPr>
        <p:spPr>
          <a:xfrm rot="-5400000">
            <a:off x="14064476" y="820275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>
            <a:off x="9144000" y="9239250"/>
            <a:ext cx="81153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-1656181" y="4519007"/>
            <a:ext cx="9301874" cy="2182122"/>
            <a:chOff x="0" y="0"/>
            <a:chExt cx="1732388" cy="406400"/>
          </a:xfrm>
        </p:grpSpPr>
        <p:sp>
          <p:nvSpPr>
            <p:cNvPr id="11" name="Freeform 11"/>
            <p:cNvSpPr/>
            <p:nvPr/>
          </p:nvSpPr>
          <p:spPr>
            <a:xfrm>
              <a:off x="17780" y="22860"/>
              <a:ext cx="1706988" cy="360680"/>
            </a:xfrm>
            <a:custGeom>
              <a:avLst/>
              <a:gdLst/>
              <a:ahLst/>
              <a:cxnLst/>
              <a:rect l="l" t="t" r="r" b="b"/>
              <a:pathLst>
                <a:path w="1706988" h="360680">
                  <a:moveTo>
                    <a:pt x="1706988" y="180340"/>
                  </a:moveTo>
                  <a:cubicBezTo>
                    <a:pt x="1706988" y="81280"/>
                    <a:pt x="1626978" y="0"/>
                    <a:pt x="1526648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526648" y="360680"/>
                  </a:lnTo>
                  <a:cubicBezTo>
                    <a:pt x="1625707" y="360680"/>
                    <a:pt x="1706988" y="279400"/>
                    <a:pt x="1706988" y="180340"/>
                  </a:cubicBezTo>
                  <a:close/>
                </a:path>
              </a:pathLst>
            </a:custGeom>
            <a:solidFill>
              <a:srgbClr val="67A4D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-1320174" y="6453724"/>
            <a:ext cx="10660855" cy="2081299"/>
            <a:chOff x="0" y="0"/>
            <a:chExt cx="2081667" cy="406400"/>
          </a:xfrm>
        </p:grpSpPr>
        <p:sp>
          <p:nvSpPr>
            <p:cNvPr id="13" name="Freeform 13"/>
            <p:cNvSpPr/>
            <p:nvPr/>
          </p:nvSpPr>
          <p:spPr>
            <a:xfrm>
              <a:off x="17780" y="22860"/>
              <a:ext cx="2056267" cy="360680"/>
            </a:xfrm>
            <a:custGeom>
              <a:avLst/>
              <a:gdLst/>
              <a:ahLst/>
              <a:cxnLst/>
              <a:rect l="l" t="t" r="r" b="b"/>
              <a:pathLst>
                <a:path w="2056267" h="360680">
                  <a:moveTo>
                    <a:pt x="2056267" y="180340"/>
                  </a:moveTo>
                  <a:cubicBezTo>
                    <a:pt x="2056267" y="81280"/>
                    <a:pt x="1976258" y="0"/>
                    <a:pt x="187592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875927" y="360680"/>
                  </a:lnTo>
                  <a:cubicBezTo>
                    <a:pt x="1974987" y="360680"/>
                    <a:pt x="2056267" y="279400"/>
                    <a:pt x="2056267" y="18034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42096" y="2657996"/>
            <a:ext cx="2575722" cy="47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sz="3128" b="1" spc="-156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Luc Gracianette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7689" y="3069150"/>
            <a:ext cx="3749859" cy="37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38" spc="-12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(Architecte du Domaine DATA)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043" y="3612941"/>
            <a:ext cx="5890996" cy="736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38" spc="-12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Rencontré via MyJobGlasses. Travaille chez La Banque Postale.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1425" y="4811460"/>
            <a:ext cx="5087765" cy="47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sz="3128" b="1" spc="-156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Mohamed El Mokhtar El Waghf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63282" y="5270239"/>
            <a:ext cx="3749859" cy="37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38" spc="-12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(Data Engineer)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043" y="5835223"/>
            <a:ext cx="7307181" cy="36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38" spc="-12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Rencontré via Linkedin. Travaille chez Side.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88205" y="6691604"/>
            <a:ext cx="5087765" cy="47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sz="3128" b="1" spc="-156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Yahya YOUNES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82832" y="7082129"/>
            <a:ext cx="3749859" cy="37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38" spc="-12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(ML Engineer)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043" y="7650272"/>
            <a:ext cx="10021536" cy="36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38" spc="-12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Rencontré via Linkedin. Travaille chez Sopra Steria.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9585" y="1493106"/>
            <a:ext cx="4729929" cy="3843707"/>
          </a:xfrm>
          <a:custGeom>
            <a:avLst/>
            <a:gdLst/>
            <a:ahLst/>
            <a:cxnLst/>
            <a:rect l="l" t="t" r="r" b="b"/>
            <a:pathLst>
              <a:path w="4729929" h="3843707">
                <a:moveTo>
                  <a:pt x="0" y="0"/>
                </a:moveTo>
                <a:lnTo>
                  <a:pt x="4729929" y="0"/>
                </a:lnTo>
                <a:lnTo>
                  <a:pt x="4729929" y="3843707"/>
                </a:lnTo>
                <a:lnTo>
                  <a:pt x="0" y="3843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 flipV="1">
            <a:off x="1028700" y="1273490"/>
            <a:ext cx="162306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-533878" y="5520444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3358767" y="711200"/>
            <a:ext cx="3900533" cy="29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470"/>
              </a:lnSpc>
              <a:spcBef>
                <a:spcPct val="0"/>
              </a:spcBef>
            </a:pPr>
            <a:r>
              <a:rPr lang="en-US" sz="1900" spc="95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05/01/2026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91802" y="4511948"/>
            <a:ext cx="8862852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10"/>
              </a:lnSpc>
            </a:pPr>
            <a:r>
              <a:rPr lang="en-US" sz="10500" spc="-525">
                <a:solidFill>
                  <a:srgbClr val="02304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Merci à vous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9239250"/>
            <a:ext cx="8115300" cy="0"/>
          </a:xfrm>
          <a:prstGeom prst="line">
            <a:avLst/>
          </a:prstGeom>
          <a:ln w="38100" cap="flat">
            <a:solidFill>
              <a:srgbClr val="0230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-4399197" y="5208160"/>
            <a:ext cx="5107990" cy="873002"/>
          </a:xfrm>
          <a:custGeom>
            <a:avLst/>
            <a:gdLst/>
            <a:ahLst/>
            <a:cxnLst/>
            <a:rect l="l" t="t" r="r" b="b"/>
            <a:pathLst>
              <a:path w="5107990" h="873002">
                <a:moveTo>
                  <a:pt x="0" y="0"/>
                </a:moveTo>
                <a:lnTo>
                  <a:pt x="5107990" y="0"/>
                </a:lnTo>
                <a:lnTo>
                  <a:pt x="5107990" y="873002"/>
                </a:lnTo>
                <a:lnTo>
                  <a:pt x="0" y="873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rPr>
              <a:t>hello@reallygreatsite.com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58767" y="9394534"/>
            <a:ext cx="3900533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599" spc="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HAMZA KALIM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-226403" y="-588069"/>
            <a:ext cx="5471403" cy="4446255"/>
          </a:xfrm>
          <a:custGeom>
            <a:avLst/>
            <a:gdLst/>
            <a:ahLst/>
            <a:cxnLst/>
            <a:rect l="l" t="t" r="r" b="b"/>
            <a:pathLst>
              <a:path w="5471403" h="4446255">
                <a:moveTo>
                  <a:pt x="5471403" y="0"/>
                </a:moveTo>
                <a:lnTo>
                  <a:pt x="0" y="0"/>
                </a:lnTo>
                <a:lnTo>
                  <a:pt x="0" y="4446255"/>
                </a:lnTo>
                <a:lnTo>
                  <a:pt x="5471403" y="4446255"/>
                </a:lnTo>
                <a:lnTo>
                  <a:pt x="547140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7380396" y="452437"/>
            <a:ext cx="580989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9"/>
              </a:lnSpc>
            </a:pPr>
            <a:r>
              <a:rPr lang="en-US" sz="7499" spc="-3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RÉFÉRENCES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41089" y="1597771"/>
            <a:ext cx="12990073" cy="701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6" tooltip="https://www.jedha.co/formation-analyse-donnee/chiffres-sur-le-marche-de-la-data-en-2025"/>
              </a:rPr>
              <a:t>https://www.jedha.co/formation-analyse-donnee/chiffres-sur-le-marche-de-la-data-en-2025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7" tooltip="https://digital-strategy.ec.europa.eu/en/policies/regulatory-framework-ai"/>
              </a:rPr>
              <a:t>https://digital-strategy.ec.europa.eu/en/policies/regulatory-framework-ai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8" tooltip="https://www.eurasiareview.com/08012025-future-of-jobs-report-2025-78-million-new-job-opportunities-by-2030-but-urgent-upskilling-needed-to-prepare-workforces/"/>
              </a:rPr>
              <a:t>https://www.eurasiareview.com/08012025-future-of-jobs-report-2025-78-million-new-job-opportunities-by-2030-but-urgent-upskilling-needed-to-prepare-workforces/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9" tooltip="https://thunderbit.com/fr/blog/ai-job-statistics-explained"/>
              </a:rPr>
              <a:t>https://thunderbit.com/fr/blog/ai-job-statistics-explained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0" tooltip="https://tietalent.com/fr/blog/188/carrieres-ia-et-data-science-guide-rapide-pour-talents-en-europe"/>
              </a:rPr>
              <a:t>https://tietalent.com/fr/blog/188/carrieres-ia-et-data-science-guide-rapide-pour-talents-en-europe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1" tooltip="https://techstaq.io/emerging-tech-salaries-in-europe-2026-trends-and-the-future-of-tech-jobs-through-2030/"/>
              </a:rPr>
              <a:t>https://techstaq.io/emerging-tech-salaries-in-europe-2026-trends-and-the-future-of-tech-jobs-through-2030/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2" tooltip="https://imarticus.org/blog/why-93-of-global-companies-will-rely-on-data-analytics-by-2030-skills-you-need/"/>
              </a:rPr>
              <a:t>https://imarticus.org/blog/why-93-of-global-companies-will-rely-on-data-analytics-by-2030-skills-you-need/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3" tooltip="https://www.info.gouv.fr/grand-dossier/france-2030"/>
              </a:rPr>
              <a:t>https://www.info.gouv.fr/grand-dossier/france-2030 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4" tooltip="https://www.klecha-co.com/blog/the-ai-skills-gap-talent-shortages-and-workforce-adaptation"/>
              </a:rPr>
              <a:t>https://www.klecha-co.com/blog/the-ai-skills-gap-talent-shortages-and-workforce-adaptation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5" tooltip="https://www.secondtalent.com/resources/global-ai-talent-shortage-statistics/"/>
              </a:rPr>
              <a:t>https://www.secondtalent.com/resources/global-ai-talent-shortage-statistics/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6" tooltip="https://qubit-labs.com/ai-talent-shortage/"/>
              </a:rPr>
              <a:t>https://qubit-labs.com/ai-talent-shortage/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7" tooltip="https://www.data-bird.co/blog/data-recrutement-quel-marche-en-2024"/>
              </a:rPr>
              <a:t>https://www.data-bird.co/blog/data-recrutement-quel-marche-en-2024</a:t>
            </a:r>
          </a:p>
          <a:p>
            <a:pPr marL="347679" lvl="1" indent="-173839" algn="l">
              <a:lnSpc>
                <a:spcPts val="4025"/>
              </a:lnSpc>
              <a:buAutoNum type="arabicPeriod"/>
            </a:pPr>
            <a:r>
              <a:rPr lang="en-US" sz="1610" u="sng" spc="-8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8" tooltip="https://reports.weforum.org/docs/WEF_Future_of_Jobs_Report_2025.pdf"/>
              </a:rPr>
              <a:t>https://reports.weforum.org/docs/WEF_Future_of_Jobs_Report_2025.pdf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Custom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Open Sans Bold</vt:lpstr>
      <vt:lpstr>Calibri</vt:lpstr>
      <vt:lpstr>Open Sans</vt:lpstr>
      <vt:lpstr>Arial</vt:lpstr>
      <vt:lpstr>League Spartan</vt:lpstr>
      <vt:lpstr>Montserrat</vt:lpstr>
      <vt:lpstr>HK Grotesk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professionnelle projet marketing moderne bleu et blanc</dc:title>
  <cp:lastModifiedBy>e18347</cp:lastModifiedBy>
  <cp:revision>2</cp:revision>
  <dcterms:created xsi:type="dcterms:W3CDTF">2006-08-16T00:00:00Z</dcterms:created>
  <dcterms:modified xsi:type="dcterms:W3CDTF">2026-01-04T20:14:42Z</dcterms:modified>
  <dc:identifier>DAG81gk7QKc</dc:identifier>
</cp:coreProperties>
</file>